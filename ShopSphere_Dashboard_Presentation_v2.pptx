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4440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rtlCol="0" anchor="ctr"/>
          <a:lstStyle/>
          <a:p>
            <a:pPr marL="0" indent="0" algn="ctr">
              <a:buNone/>
            </a:pPr>
            <a:r>
              <a:rPr lang="en-US" sz="2800" dirty="0">
                <a:solidFill>
                  <a:schemeClr val="bg1"/>
                </a:solidFill>
                <a:latin typeface="Calibri" pitchFamily="34" charset="0"/>
                <a:ea typeface="Calibri" pitchFamily="34" charset="-122"/>
                <a:cs typeface="Calibri" pitchFamily="34" charset="-120"/>
              </a:rPr>
              <a:t>Power BI Business Intelligence Project</a:t>
            </a:r>
            <a:endParaRPr lang="en-US" sz="2800" dirty="0">
              <a:solidFill>
                <a:schemeClr val="bg1"/>
              </a:solidFill>
            </a:endParaRPr>
          </a:p>
        </p:txBody>
      </p:sp>
      <p:sp>
        <p:nvSpPr>
          <p:cNvPr id="3" name="Text 1"/>
          <p:cNvSpPr/>
          <p:nvPr/>
        </p:nvSpPr>
        <p:spPr>
          <a:xfrm>
            <a:off x="822960" y="2011680"/>
            <a:ext cx="10515600" cy="182880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E-Commerce Business</a:t>
            </a:r>
            <a:endParaRPr lang="en-US" sz="4400" dirty="0"/>
          </a:p>
          <a:p>
            <a:pPr marL="0" indent="0" algn="l">
              <a:buNone/>
            </a:pPr>
            <a:r>
              <a:rPr lang="en-US" sz="4400" b="1" dirty="0">
                <a:solidFill>
                  <a:srgbClr val="FFFFFF"/>
                </a:solidFill>
                <a:latin typeface="Cambria" pitchFamily="34" charset="0"/>
                <a:ea typeface="Cambria" pitchFamily="34" charset="-122"/>
                <a:cs typeface="Cambria" pitchFamily="34" charset="-120"/>
              </a:rPr>
              <a:t>Analytics Dashboard</a:t>
            </a:r>
            <a:endParaRPr lang="en-US" sz="4400" dirty="0"/>
          </a:p>
        </p:txBody>
      </p:sp>
      <p:sp>
        <p:nvSpPr>
          <p:cNvPr id="4" name="Text 2"/>
          <p:cNvSpPr/>
          <p:nvPr/>
        </p:nvSpPr>
        <p:spPr>
          <a:xfrm>
            <a:off x="822960" y="3794760"/>
            <a:ext cx="10515600" cy="457200"/>
          </a:xfrm>
          <a:prstGeom prst="rect">
            <a:avLst/>
          </a:prstGeom>
          <a:noFill/>
          <a:ln/>
        </p:spPr>
        <p:txBody>
          <a:bodyPr wrap="square" rtlCol="0" anchor="ctr"/>
          <a:lstStyle/>
          <a:p>
            <a:pPr marL="0" indent="0" algn="l">
              <a:buNone/>
            </a:pPr>
            <a:r>
              <a:rPr lang="en-US" sz="1800" dirty="0">
                <a:solidFill>
                  <a:srgbClr val="CFEFEA"/>
                </a:solidFill>
                <a:latin typeface="Calibri" pitchFamily="34" charset="0"/>
                <a:ea typeface="Calibri" pitchFamily="34" charset="-122"/>
                <a:cs typeface="Calibri" pitchFamily="34" charset="-120"/>
              </a:rPr>
              <a:t>ShopSphere Online</a:t>
            </a:r>
            <a:endParaRPr lang="en-US" sz="1800" dirty="0"/>
          </a:p>
        </p:txBody>
      </p:sp>
      <p:sp>
        <p:nvSpPr>
          <p:cNvPr id="5" name="Text 3"/>
          <p:cNvSpPr/>
          <p:nvPr/>
        </p:nvSpPr>
        <p:spPr>
          <a:xfrm>
            <a:off x="822960" y="4251960"/>
            <a:ext cx="10515600" cy="365760"/>
          </a:xfrm>
          <a:prstGeom prst="rect">
            <a:avLst/>
          </a:prstGeom>
          <a:noFill/>
          <a:ln/>
        </p:spPr>
        <p:txBody>
          <a:bodyPr wrap="square" rtlCol="0" anchor="ctr"/>
          <a:lstStyle/>
          <a:p>
            <a:pPr marL="0" indent="0" algn="l">
              <a:buNone/>
            </a:pPr>
            <a:r>
              <a:rPr lang="en-US" sz="1400" dirty="0">
                <a:solidFill>
                  <a:srgbClr val="CFEFEA"/>
                </a:solidFill>
                <a:latin typeface="Calibri" pitchFamily="34" charset="0"/>
                <a:ea typeface="Calibri" pitchFamily="34" charset="-122"/>
                <a:cs typeface="Calibri" pitchFamily="34" charset="-120"/>
              </a:rPr>
              <a:t>Dataset: Brazilian E-Commerce Public Dataset (Olist)</a:t>
            </a:r>
            <a:endParaRPr lang="en-US" sz="1400" dirty="0"/>
          </a:p>
        </p:txBody>
      </p:sp>
      <p:sp>
        <p:nvSpPr>
          <p:cNvPr id="6" name="Text 4"/>
          <p:cNvSpPr/>
          <p:nvPr/>
        </p:nvSpPr>
        <p:spPr>
          <a:xfrm>
            <a:off x="822960" y="5288591"/>
            <a:ext cx="10515600" cy="868680"/>
          </a:xfrm>
          <a:prstGeom prst="rect">
            <a:avLst/>
          </a:prstGeom>
          <a:noFill/>
          <a:ln/>
        </p:spPr>
        <p:txBody>
          <a:bodyPr wrap="square" rtlCol="0" anchor="ctr"/>
          <a:lstStyle/>
          <a:p>
            <a:pPr marL="0" indent="0" algn="l">
              <a:buNone/>
            </a:pPr>
            <a:r>
              <a:rPr lang="en-US" sz="2800" dirty="0">
                <a:solidFill>
                  <a:schemeClr val="bg1"/>
                </a:solidFill>
              </a:rPr>
              <a:t>KEERTHI . N</a:t>
            </a:r>
          </a:p>
          <a:p>
            <a:pPr marL="0" indent="0" algn="l">
              <a:buNone/>
            </a:pPr>
            <a:r>
              <a:rPr lang="en-US" sz="2800" dirty="0">
                <a:solidFill>
                  <a:schemeClr val="bg1"/>
                </a:solidFill>
              </a:rPr>
              <a:t>BCA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Company Overview</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Client: ShopSphere Online</a:t>
            </a:r>
            <a:endParaRPr lang="en-US" sz="1400" dirty="0"/>
          </a:p>
        </p:txBody>
      </p:sp>
      <p:sp>
        <p:nvSpPr>
          <p:cNvPr id="4" name="Text 2"/>
          <p:cNvSpPr/>
          <p:nvPr/>
        </p:nvSpPr>
        <p:spPr>
          <a:xfrm>
            <a:off x="457200" y="1417320"/>
            <a:ext cx="10881360" cy="1188720"/>
          </a:xfrm>
          <a:prstGeom prst="rect">
            <a:avLst/>
          </a:prstGeom>
          <a:noFill/>
          <a:ln/>
        </p:spPr>
        <p:txBody>
          <a:bodyPr wrap="square" rtlCol="0" anchor="t"/>
          <a:lstStyle/>
          <a:p>
            <a:pPr marL="0" indent="0">
              <a:buNone/>
            </a:pPr>
            <a:r>
              <a:rPr lang="en-US" sz="2000" dirty="0">
                <a:solidFill>
                  <a:srgbClr val="212121"/>
                </a:solidFill>
                <a:latin typeface="Calibri" pitchFamily="34" charset="0"/>
                <a:ea typeface="Calibri" pitchFamily="34" charset="-122"/>
                <a:cs typeface="Calibri" pitchFamily="34" charset="-120"/>
              </a:rPr>
              <a:t>ShopSphere Online operates a nationwide e-commerce marketplace, selling products across many categories to customers throughout Brazil. As the business grows, management needs accurate insight into sales performance, product popularity, customer behavior, and delivery quality to make confident, data-driven decisions.</a:t>
            </a:r>
            <a:endParaRPr lang="en-US" sz="2000" dirty="0"/>
          </a:p>
        </p:txBody>
      </p:sp>
      <p:sp>
        <p:nvSpPr>
          <p:cNvPr id="5" name="Text 3"/>
          <p:cNvSpPr/>
          <p:nvPr/>
        </p:nvSpPr>
        <p:spPr>
          <a:xfrm>
            <a:off x="457200" y="2743200"/>
            <a:ext cx="5486400" cy="365760"/>
          </a:xfrm>
          <a:prstGeom prst="rect">
            <a:avLst/>
          </a:prstGeom>
          <a:noFill/>
          <a:ln/>
        </p:spPr>
        <p:txBody>
          <a:bodyPr wrap="square" rtlCol="0" anchor="ctr"/>
          <a:lstStyle/>
          <a:p>
            <a:pPr marL="0" indent="0">
              <a:buNone/>
            </a:pPr>
            <a:r>
              <a:rPr lang="en-US" b="1" dirty="0">
                <a:solidFill>
                  <a:srgbClr val="028090"/>
                </a:solidFill>
                <a:latin typeface="Cambria" pitchFamily="34" charset="0"/>
                <a:ea typeface="Cambria" pitchFamily="34" charset="-122"/>
                <a:cs typeface="Cambria" pitchFamily="34" charset="-120"/>
              </a:rPr>
              <a:t>Business Objectives</a:t>
            </a:r>
            <a:endParaRPr lang="en-US" dirty="0"/>
          </a:p>
        </p:txBody>
      </p:sp>
      <p:sp>
        <p:nvSpPr>
          <p:cNvPr id="6" name="Shape 4"/>
          <p:cNvSpPr/>
          <p:nvPr/>
        </p:nvSpPr>
        <p:spPr>
          <a:xfrm>
            <a:off x="502920" y="3346704"/>
            <a:ext cx="100584" cy="100584"/>
          </a:xfrm>
          <a:prstGeom prst="ellipse">
            <a:avLst/>
          </a:prstGeom>
          <a:solidFill>
            <a:srgbClr val="00A896"/>
          </a:solidFill>
          <a:ln/>
        </p:spPr>
      </p:sp>
      <p:sp>
        <p:nvSpPr>
          <p:cNvPr id="7" name="Text 5"/>
          <p:cNvSpPr/>
          <p:nvPr/>
        </p:nvSpPr>
        <p:spPr>
          <a:xfrm>
            <a:off x="795528" y="3227832"/>
            <a:ext cx="10405872" cy="566928"/>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Improve customer experience and grow online revenue</a:t>
            </a:r>
            <a:endParaRPr lang="en-US" dirty="0"/>
          </a:p>
        </p:txBody>
      </p:sp>
      <p:sp>
        <p:nvSpPr>
          <p:cNvPr id="8" name="Shape 6"/>
          <p:cNvSpPr/>
          <p:nvPr/>
        </p:nvSpPr>
        <p:spPr>
          <a:xfrm>
            <a:off x="502920" y="3913632"/>
            <a:ext cx="100584" cy="100584"/>
          </a:xfrm>
          <a:prstGeom prst="ellipse">
            <a:avLst/>
          </a:prstGeom>
          <a:solidFill>
            <a:srgbClr val="00A896"/>
          </a:solidFill>
          <a:ln/>
        </p:spPr>
      </p:sp>
      <p:sp>
        <p:nvSpPr>
          <p:cNvPr id="9" name="Text 7"/>
          <p:cNvSpPr/>
          <p:nvPr/>
        </p:nvSpPr>
        <p:spPr>
          <a:xfrm>
            <a:off x="795528" y="3794760"/>
            <a:ext cx="10405872" cy="566928"/>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Understand purchasing behavior and product performance</a:t>
            </a:r>
            <a:endParaRPr lang="en-US" dirty="0"/>
          </a:p>
        </p:txBody>
      </p:sp>
      <p:sp>
        <p:nvSpPr>
          <p:cNvPr id="10" name="Shape 8"/>
          <p:cNvSpPr/>
          <p:nvPr/>
        </p:nvSpPr>
        <p:spPr>
          <a:xfrm>
            <a:off x="502920" y="4480560"/>
            <a:ext cx="100584" cy="100584"/>
          </a:xfrm>
          <a:prstGeom prst="ellipse">
            <a:avLst/>
          </a:prstGeom>
          <a:solidFill>
            <a:srgbClr val="00A896"/>
          </a:solidFill>
          <a:ln/>
        </p:spPr>
      </p:sp>
      <p:sp>
        <p:nvSpPr>
          <p:cNvPr id="11" name="Text 9"/>
          <p:cNvSpPr/>
          <p:nvPr/>
        </p:nvSpPr>
        <p:spPr>
          <a:xfrm>
            <a:off x="795528" y="4297680"/>
            <a:ext cx="10405872" cy="566928"/>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Identify top-performing products, categories and regions</a:t>
            </a:r>
            <a:endParaRPr lang="en-US" dirty="0"/>
          </a:p>
        </p:txBody>
      </p:sp>
      <p:sp>
        <p:nvSpPr>
          <p:cNvPr id="12" name="Shape 10"/>
          <p:cNvSpPr/>
          <p:nvPr/>
        </p:nvSpPr>
        <p:spPr>
          <a:xfrm>
            <a:off x="502920" y="5047488"/>
            <a:ext cx="100584" cy="100584"/>
          </a:xfrm>
          <a:prstGeom prst="ellipse">
            <a:avLst/>
          </a:prstGeom>
          <a:solidFill>
            <a:srgbClr val="00A896"/>
          </a:solidFill>
          <a:ln/>
        </p:spPr>
      </p:sp>
      <p:sp>
        <p:nvSpPr>
          <p:cNvPr id="13" name="Text 11"/>
          <p:cNvSpPr/>
          <p:nvPr/>
        </p:nvSpPr>
        <p:spPr>
          <a:xfrm>
            <a:off x="795528" y="4928616"/>
            <a:ext cx="10405872" cy="566928"/>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Understand what drives customer satisfaction</a:t>
            </a:r>
            <a:endParaRPr lang="en-US" dirty="0"/>
          </a:p>
        </p:txBody>
      </p:sp>
      <p:sp>
        <p:nvSpPr>
          <p:cNvPr id="14" name="Shape 12"/>
          <p:cNvSpPr/>
          <p:nvPr/>
        </p:nvSpPr>
        <p:spPr>
          <a:xfrm>
            <a:off x="502920" y="5614416"/>
            <a:ext cx="100584" cy="100584"/>
          </a:xfrm>
          <a:prstGeom prst="ellipse">
            <a:avLst/>
          </a:prstGeom>
          <a:solidFill>
            <a:srgbClr val="00A896"/>
          </a:solidFill>
          <a:ln/>
        </p:spPr>
      </p:sp>
      <p:sp>
        <p:nvSpPr>
          <p:cNvPr id="15" name="Text 13"/>
          <p:cNvSpPr/>
          <p:nvPr/>
        </p:nvSpPr>
        <p:spPr>
          <a:xfrm>
            <a:off x="795528" y="5495544"/>
            <a:ext cx="10405872" cy="566928"/>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Support decisions with a single, reliable dashboard</a:t>
            </a:r>
            <a:endParaRPr lang="en-US"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Business Problem</a:t>
            </a:r>
            <a:endParaRPr lang="en-US" sz="3000" dirty="0"/>
          </a:p>
        </p:txBody>
      </p:sp>
      <p:sp>
        <p:nvSpPr>
          <p:cNvPr id="3" name="Text 1"/>
          <p:cNvSpPr/>
          <p:nvPr/>
        </p:nvSpPr>
        <p:spPr>
          <a:xfrm>
            <a:off x="457200" y="1463040"/>
            <a:ext cx="10881360" cy="365760"/>
          </a:xfrm>
          <a:prstGeom prst="rect">
            <a:avLst/>
          </a:prstGeom>
          <a:noFill/>
          <a:ln/>
        </p:spPr>
        <p:txBody>
          <a:bodyPr wrap="square" rtlCol="0" anchor="ctr"/>
          <a:lstStyle/>
          <a:p>
            <a:pPr marL="0" indent="0">
              <a:buNone/>
            </a:pPr>
            <a:r>
              <a:rPr lang="en-US" sz="2000" b="1" dirty="0">
                <a:solidFill>
                  <a:srgbClr val="028090"/>
                </a:solidFill>
                <a:latin typeface="Cambria" pitchFamily="34" charset="0"/>
                <a:ea typeface="Cambria" pitchFamily="34" charset="-122"/>
                <a:cs typeface="Cambria" pitchFamily="34" charset="-120"/>
              </a:rPr>
              <a:t>Problem Statement</a:t>
            </a:r>
            <a:endParaRPr lang="en-US" sz="2000" dirty="0"/>
          </a:p>
        </p:txBody>
      </p:sp>
      <p:sp>
        <p:nvSpPr>
          <p:cNvPr id="4" name="Text 2"/>
          <p:cNvSpPr/>
          <p:nvPr/>
        </p:nvSpPr>
        <p:spPr>
          <a:xfrm>
            <a:off x="502920" y="1874520"/>
            <a:ext cx="10698480" cy="548640"/>
          </a:xfrm>
          <a:prstGeom prst="rect">
            <a:avLst/>
          </a:prstGeom>
          <a:noFill/>
          <a:ln/>
        </p:spPr>
        <p:txBody>
          <a:bodyPr wrap="square" rtlCol="0" anchor="ctr"/>
          <a:lstStyle/>
          <a:p>
            <a:pPr marL="0" indent="0">
              <a:buNone/>
            </a:pPr>
            <a:r>
              <a:rPr lang="en-US" dirty="0">
                <a:solidFill>
                  <a:srgbClr val="212121"/>
                </a:solidFill>
                <a:latin typeface="Calibri" pitchFamily="34" charset="0"/>
                <a:ea typeface="Calibri" pitchFamily="34" charset="-122"/>
                <a:cs typeface="Calibri" pitchFamily="34" charset="-120"/>
              </a:rPr>
              <a:t>Management lacks a single, centralized view of how the business is performing across products, customers and regions</a:t>
            </a:r>
            <a:r>
              <a:rPr lang="en-US" sz="1450" dirty="0">
                <a:solidFill>
                  <a:srgbClr val="212121"/>
                </a:solidFill>
                <a:latin typeface="Calibri" pitchFamily="34" charset="0"/>
                <a:ea typeface="Calibri" pitchFamily="34" charset="-122"/>
                <a:cs typeface="Calibri" pitchFamily="34" charset="-120"/>
              </a:rPr>
              <a:t>.</a:t>
            </a:r>
            <a:endParaRPr lang="en-US" sz="1450" dirty="0"/>
          </a:p>
        </p:txBody>
      </p:sp>
      <p:sp>
        <p:nvSpPr>
          <p:cNvPr id="5" name="Text 3"/>
          <p:cNvSpPr/>
          <p:nvPr/>
        </p:nvSpPr>
        <p:spPr>
          <a:xfrm>
            <a:off x="457200" y="2606040"/>
            <a:ext cx="5303520" cy="365760"/>
          </a:xfrm>
          <a:prstGeom prst="rect">
            <a:avLst/>
          </a:prstGeom>
          <a:noFill/>
          <a:ln/>
        </p:spPr>
        <p:txBody>
          <a:bodyPr wrap="square" rtlCol="0" anchor="ctr"/>
          <a:lstStyle/>
          <a:p>
            <a:pPr marL="0" indent="0">
              <a:buNone/>
            </a:pPr>
            <a:r>
              <a:rPr lang="en-US" sz="2000" b="1" dirty="0">
                <a:solidFill>
                  <a:srgbClr val="028090"/>
                </a:solidFill>
                <a:latin typeface="Cambria" pitchFamily="34" charset="0"/>
                <a:ea typeface="Cambria" pitchFamily="34" charset="-122"/>
                <a:cs typeface="Cambria" pitchFamily="34" charset="-120"/>
              </a:rPr>
              <a:t>Challenges</a:t>
            </a:r>
            <a:endParaRPr lang="en-US" sz="2000" dirty="0"/>
          </a:p>
        </p:txBody>
      </p:sp>
      <p:sp>
        <p:nvSpPr>
          <p:cNvPr id="6" name="Shape 4"/>
          <p:cNvSpPr/>
          <p:nvPr/>
        </p:nvSpPr>
        <p:spPr>
          <a:xfrm>
            <a:off x="502920" y="3163824"/>
            <a:ext cx="100584" cy="100584"/>
          </a:xfrm>
          <a:prstGeom prst="ellipse">
            <a:avLst/>
          </a:prstGeom>
          <a:solidFill>
            <a:srgbClr val="00A896"/>
          </a:solidFill>
          <a:ln/>
        </p:spPr>
      </p:sp>
      <p:sp>
        <p:nvSpPr>
          <p:cNvPr id="7" name="Text 5"/>
          <p:cNvSpPr/>
          <p:nvPr/>
        </p:nvSpPr>
        <p:spPr>
          <a:xfrm>
            <a:off x="795528" y="3044952"/>
            <a:ext cx="4828032" cy="56692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Difficulty tracking revenue across products and categories</a:t>
            </a:r>
            <a:endParaRPr lang="en-US" sz="1600" dirty="0"/>
          </a:p>
        </p:txBody>
      </p:sp>
      <p:sp>
        <p:nvSpPr>
          <p:cNvPr id="8" name="Shape 6"/>
          <p:cNvSpPr/>
          <p:nvPr/>
        </p:nvSpPr>
        <p:spPr>
          <a:xfrm>
            <a:off x="502920" y="3730752"/>
            <a:ext cx="100584" cy="100584"/>
          </a:xfrm>
          <a:prstGeom prst="ellipse">
            <a:avLst/>
          </a:prstGeom>
          <a:solidFill>
            <a:srgbClr val="00A896"/>
          </a:solidFill>
          <a:ln/>
        </p:spPr>
      </p:sp>
      <p:sp>
        <p:nvSpPr>
          <p:cNvPr id="9" name="Text 7"/>
          <p:cNvSpPr/>
          <p:nvPr/>
        </p:nvSpPr>
        <p:spPr>
          <a:xfrm>
            <a:off x="795528" y="3611880"/>
            <a:ext cx="4828032" cy="56692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No clear view of top or underperforming customers</a:t>
            </a:r>
            <a:endParaRPr lang="en-US" sz="1600" dirty="0"/>
          </a:p>
        </p:txBody>
      </p:sp>
      <p:sp>
        <p:nvSpPr>
          <p:cNvPr id="10" name="Shape 8"/>
          <p:cNvSpPr/>
          <p:nvPr/>
        </p:nvSpPr>
        <p:spPr>
          <a:xfrm>
            <a:off x="502920" y="4297680"/>
            <a:ext cx="100584" cy="100584"/>
          </a:xfrm>
          <a:prstGeom prst="ellipse">
            <a:avLst/>
          </a:prstGeom>
          <a:solidFill>
            <a:srgbClr val="00A896"/>
          </a:solidFill>
          <a:ln/>
        </p:spPr>
      </p:sp>
      <p:sp>
        <p:nvSpPr>
          <p:cNvPr id="11" name="Text 9"/>
          <p:cNvSpPr/>
          <p:nvPr/>
        </p:nvSpPr>
        <p:spPr>
          <a:xfrm>
            <a:off x="795528" y="4178808"/>
            <a:ext cx="4828032" cy="56692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Limited visibility into regional purchasing patterns</a:t>
            </a:r>
            <a:endParaRPr lang="en-US" sz="1600" dirty="0"/>
          </a:p>
        </p:txBody>
      </p:sp>
      <p:sp>
        <p:nvSpPr>
          <p:cNvPr id="12" name="Shape 10"/>
          <p:cNvSpPr/>
          <p:nvPr/>
        </p:nvSpPr>
        <p:spPr>
          <a:xfrm>
            <a:off x="502920" y="4864608"/>
            <a:ext cx="100584" cy="100584"/>
          </a:xfrm>
          <a:prstGeom prst="ellipse">
            <a:avLst/>
          </a:prstGeom>
          <a:solidFill>
            <a:srgbClr val="00A896"/>
          </a:solidFill>
          <a:ln/>
        </p:spPr>
      </p:sp>
      <p:sp>
        <p:nvSpPr>
          <p:cNvPr id="13" name="Text 11"/>
          <p:cNvSpPr/>
          <p:nvPr/>
        </p:nvSpPr>
        <p:spPr>
          <a:xfrm>
            <a:off x="795528" y="4745736"/>
            <a:ext cx="4828032" cy="56692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Unclear which factors are driving customer satisfaction</a:t>
            </a:r>
            <a:endParaRPr lang="en-US" sz="1600" dirty="0"/>
          </a:p>
        </p:txBody>
      </p:sp>
      <p:sp>
        <p:nvSpPr>
          <p:cNvPr id="14" name="Shape 12"/>
          <p:cNvSpPr/>
          <p:nvPr/>
        </p:nvSpPr>
        <p:spPr>
          <a:xfrm>
            <a:off x="6172200" y="2606040"/>
            <a:ext cx="5440680" cy="3017520"/>
          </a:xfrm>
          <a:prstGeom prst="roundRect">
            <a:avLst>
              <a:gd name="adj" fmla="val 2424"/>
            </a:avLst>
          </a:prstGeom>
          <a:solidFill>
            <a:srgbClr val="F2F2F2"/>
          </a:solidFill>
          <a:ln/>
        </p:spPr>
      </p:sp>
      <p:sp>
        <p:nvSpPr>
          <p:cNvPr id="15" name="Text 13"/>
          <p:cNvSpPr/>
          <p:nvPr/>
        </p:nvSpPr>
        <p:spPr>
          <a:xfrm>
            <a:off x="6400800" y="2788920"/>
            <a:ext cx="4937760" cy="365760"/>
          </a:xfrm>
          <a:prstGeom prst="rect">
            <a:avLst/>
          </a:prstGeom>
          <a:noFill/>
          <a:ln/>
        </p:spPr>
        <p:txBody>
          <a:bodyPr wrap="square" rtlCol="0" anchor="ctr"/>
          <a:lstStyle/>
          <a:p>
            <a:pPr marL="0" indent="0">
              <a:buNone/>
            </a:pPr>
            <a:r>
              <a:rPr lang="en-US" sz="2000" b="1" dirty="0">
                <a:solidFill>
                  <a:srgbClr val="028090"/>
                </a:solidFill>
                <a:latin typeface="Cambria" pitchFamily="34" charset="0"/>
                <a:ea typeface="Cambria" pitchFamily="34" charset="-122"/>
                <a:cs typeface="Cambria" pitchFamily="34" charset="-120"/>
              </a:rPr>
              <a:t>Solution</a:t>
            </a:r>
            <a:endParaRPr lang="en-US" sz="2000" dirty="0"/>
          </a:p>
        </p:txBody>
      </p:sp>
      <p:sp>
        <p:nvSpPr>
          <p:cNvPr id="16" name="Text 14"/>
          <p:cNvSpPr/>
          <p:nvPr/>
        </p:nvSpPr>
        <p:spPr>
          <a:xfrm>
            <a:off x="6400800" y="3246120"/>
            <a:ext cx="4937760" cy="2194560"/>
          </a:xfrm>
          <a:prstGeom prst="rect">
            <a:avLst/>
          </a:prstGeom>
          <a:noFill/>
          <a:ln/>
        </p:spPr>
        <p:txBody>
          <a:bodyPr wrap="square" rtlCol="0" anchor="t"/>
          <a:lstStyle/>
          <a:p>
            <a:pPr marL="0" indent="0">
              <a:buNone/>
            </a:pPr>
            <a:r>
              <a:rPr lang="en-US" sz="2400" dirty="0">
                <a:solidFill>
                  <a:srgbClr val="212121"/>
                </a:solidFill>
                <a:latin typeface="Calibri" pitchFamily="34" charset="0"/>
                <a:ea typeface="Calibri" pitchFamily="34" charset="-122"/>
                <a:cs typeface="Calibri" pitchFamily="34" charset="-120"/>
              </a:rPr>
              <a:t>Develop an interactive Power BI dashboard that gives ShopSphere real-time insight into revenue, products, customers and regional performance, all in one place.</a:t>
            </a:r>
            <a:endParaRPr lang="en-US" sz="2400" dirty="0"/>
          </a:p>
        </p:txBody>
      </p:sp>
      <p:sp>
        <p:nvSpPr>
          <p:cNvPr id="17" name="Text 15"/>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Main Goal</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2000" dirty="0">
                <a:solidFill>
                  <a:srgbClr val="028090"/>
                </a:solidFill>
                <a:latin typeface="Calibri" pitchFamily="34" charset="0"/>
                <a:ea typeface="Calibri" pitchFamily="34" charset="-122"/>
                <a:cs typeface="Calibri" pitchFamily="34" charset="-120"/>
              </a:rPr>
              <a:t>Build an interactive Power BI dashboard answering:</a:t>
            </a:r>
            <a:endParaRPr lang="en-US" sz="2000" dirty="0"/>
          </a:p>
        </p:txBody>
      </p:sp>
      <p:sp>
        <p:nvSpPr>
          <p:cNvPr id="4" name="Shape 2"/>
          <p:cNvSpPr/>
          <p:nvPr/>
        </p:nvSpPr>
        <p:spPr>
          <a:xfrm>
            <a:off x="502920" y="1792224"/>
            <a:ext cx="100584" cy="100584"/>
          </a:xfrm>
          <a:prstGeom prst="ellipse">
            <a:avLst/>
          </a:prstGeom>
          <a:solidFill>
            <a:srgbClr val="00A896"/>
          </a:solidFill>
          <a:ln/>
        </p:spPr>
      </p:sp>
      <p:sp>
        <p:nvSpPr>
          <p:cNvPr id="5" name="Text 3"/>
          <p:cNvSpPr/>
          <p:nvPr/>
        </p:nvSpPr>
        <p:spPr>
          <a:xfrm>
            <a:off x="795528" y="1673352"/>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Overall revenue generated</a:t>
            </a:r>
            <a:endParaRPr lang="en-US" dirty="0"/>
          </a:p>
        </p:txBody>
      </p:sp>
      <p:sp>
        <p:nvSpPr>
          <p:cNvPr id="6" name="Shape 4"/>
          <p:cNvSpPr/>
          <p:nvPr/>
        </p:nvSpPr>
        <p:spPr>
          <a:xfrm>
            <a:off x="502920" y="2414016"/>
            <a:ext cx="100584" cy="100584"/>
          </a:xfrm>
          <a:prstGeom prst="ellipse">
            <a:avLst/>
          </a:prstGeom>
          <a:solidFill>
            <a:srgbClr val="00A896"/>
          </a:solidFill>
          <a:ln/>
        </p:spPr>
      </p:sp>
      <p:sp>
        <p:nvSpPr>
          <p:cNvPr id="7" name="Text 5"/>
          <p:cNvSpPr/>
          <p:nvPr/>
        </p:nvSpPr>
        <p:spPr>
          <a:xfrm>
            <a:off x="795528" y="2295144"/>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Top-performing products and categories</a:t>
            </a:r>
            <a:endParaRPr lang="en-US" dirty="0"/>
          </a:p>
        </p:txBody>
      </p:sp>
      <p:sp>
        <p:nvSpPr>
          <p:cNvPr id="8" name="Shape 6"/>
          <p:cNvSpPr/>
          <p:nvPr/>
        </p:nvSpPr>
        <p:spPr>
          <a:xfrm>
            <a:off x="502920" y="3035808"/>
            <a:ext cx="100584" cy="100584"/>
          </a:xfrm>
          <a:prstGeom prst="ellipse">
            <a:avLst/>
          </a:prstGeom>
          <a:solidFill>
            <a:srgbClr val="00A896"/>
          </a:solidFill>
          <a:ln/>
        </p:spPr>
      </p:sp>
      <p:sp>
        <p:nvSpPr>
          <p:cNvPr id="9" name="Text 7"/>
          <p:cNvSpPr/>
          <p:nvPr/>
        </p:nvSpPr>
        <p:spPr>
          <a:xfrm>
            <a:off x="795528" y="2916936"/>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Highest revenue-contributing customers</a:t>
            </a:r>
            <a:endParaRPr lang="en-US" dirty="0"/>
          </a:p>
        </p:txBody>
      </p:sp>
      <p:sp>
        <p:nvSpPr>
          <p:cNvPr id="10" name="Shape 8"/>
          <p:cNvSpPr/>
          <p:nvPr/>
        </p:nvSpPr>
        <p:spPr>
          <a:xfrm>
            <a:off x="502920" y="3657600"/>
            <a:ext cx="100584" cy="100584"/>
          </a:xfrm>
          <a:prstGeom prst="ellipse">
            <a:avLst/>
          </a:prstGeom>
          <a:solidFill>
            <a:srgbClr val="00A896"/>
          </a:solidFill>
          <a:ln/>
        </p:spPr>
      </p:sp>
      <p:sp>
        <p:nvSpPr>
          <p:cNvPr id="11" name="Text 9"/>
          <p:cNvSpPr/>
          <p:nvPr/>
        </p:nvSpPr>
        <p:spPr>
          <a:xfrm>
            <a:off x="795528" y="3538728"/>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Monthly sales trends throughout the year</a:t>
            </a:r>
            <a:endParaRPr lang="en-US" dirty="0"/>
          </a:p>
        </p:txBody>
      </p:sp>
      <p:sp>
        <p:nvSpPr>
          <p:cNvPr id="12" name="Shape 10"/>
          <p:cNvSpPr/>
          <p:nvPr/>
        </p:nvSpPr>
        <p:spPr>
          <a:xfrm>
            <a:off x="502920" y="4279392"/>
            <a:ext cx="100584" cy="100584"/>
          </a:xfrm>
          <a:prstGeom prst="ellipse">
            <a:avLst/>
          </a:prstGeom>
          <a:solidFill>
            <a:srgbClr val="00A896"/>
          </a:solidFill>
          <a:ln/>
        </p:spPr>
      </p:sp>
      <p:sp>
        <p:nvSpPr>
          <p:cNvPr id="13" name="Text 11"/>
          <p:cNvSpPr/>
          <p:nvPr/>
        </p:nvSpPr>
        <p:spPr>
          <a:xfrm>
            <a:off x="795528" y="4160520"/>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Highest and lowest rated products</a:t>
            </a:r>
            <a:endParaRPr lang="en-US" dirty="0"/>
          </a:p>
        </p:txBody>
      </p:sp>
      <p:sp>
        <p:nvSpPr>
          <p:cNvPr id="14" name="Shape 12"/>
          <p:cNvSpPr/>
          <p:nvPr/>
        </p:nvSpPr>
        <p:spPr>
          <a:xfrm>
            <a:off x="6263640" y="1792224"/>
            <a:ext cx="100584" cy="100584"/>
          </a:xfrm>
          <a:prstGeom prst="ellipse">
            <a:avLst/>
          </a:prstGeom>
          <a:solidFill>
            <a:srgbClr val="00A896"/>
          </a:solidFill>
          <a:ln/>
        </p:spPr>
      </p:sp>
      <p:sp>
        <p:nvSpPr>
          <p:cNvPr id="15" name="Text 13"/>
          <p:cNvSpPr/>
          <p:nvPr/>
        </p:nvSpPr>
        <p:spPr>
          <a:xfrm>
            <a:off x="6556248" y="1673352"/>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Purchasing patterns across regions</a:t>
            </a:r>
            <a:endParaRPr lang="en-US" dirty="0"/>
          </a:p>
        </p:txBody>
      </p:sp>
      <p:sp>
        <p:nvSpPr>
          <p:cNvPr id="16" name="Shape 14"/>
          <p:cNvSpPr/>
          <p:nvPr/>
        </p:nvSpPr>
        <p:spPr>
          <a:xfrm>
            <a:off x="6263640" y="2414016"/>
            <a:ext cx="100584" cy="100584"/>
          </a:xfrm>
          <a:prstGeom prst="ellipse">
            <a:avLst/>
          </a:prstGeom>
          <a:solidFill>
            <a:srgbClr val="00A896"/>
          </a:solidFill>
          <a:ln/>
        </p:spPr>
      </p:sp>
      <p:sp>
        <p:nvSpPr>
          <p:cNvPr id="17" name="Text 15"/>
          <p:cNvSpPr/>
          <p:nvPr/>
        </p:nvSpPr>
        <p:spPr>
          <a:xfrm>
            <a:off x="6556248" y="2295144"/>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Frequently purchased products</a:t>
            </a:r>
            <a:endParaRPr lang="en-US" dirty="0"/>
          </a:p>
        </p:txBody>
      </p:sp>
      <p:sp>
        <p:nvSpPr>
          <p:cNvPr id="18" name="Shape 16"/>
          <p:cNvSpPr/>
          <p:nvPr/>
        </p:nvSpPr>
        <p:spPr>
          <a:xfrm>
            <a:off x="6263640" y="3035808"/>
            <a:ext cx="100584" cy="100584"/>
          </a:xfrm>
          <a:prstGeom prst="ellipse">
            <a:avLst/>
          </a:prstGeom>
          <a:solidFill>
            <a:srgbClr val="00A896"/>
          </a:solidFill>
          <a:ln/>
        </p:spPr>
      </p:sp>
      <p:sp>
        <p:nvSpPr>
          <p:cNvPr id="19" name="Text 17"/>
          <p:cNvSpPr/>
          <p:nvPr/>
        </p:nvSpPr>
        <p:spPr>
          <a:xfrm>
            <a:off x="6556248" y="2916936"/>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Categories that need business attention</a:t>
            </a:r>
            <a:endParaRPr lang="en-US" dirty="0"/>
          </a:p>
        </p:txBody>
      </p:sp>
      <p:sp>
        <p:nvSpPr>
          <p:cNvPr id="20" name="Shape 18"/>
          <p:cNvSpPr/>
          <p:nvPr/>
        </p:nvSpPr>
        <p:spPr>
          <a:xfrm>
            <a:off x="6263640" y="3657600"/>
            <a:ext cx="100584" cy="100584"/>
          </a:xfrm>
          <a:prstGeom prst="ellipse">
            <a:avLst/>
          </a:prstGeom>
          <a:solidFill>
            <a:srgbClr val="00A896"/>
          </a:solidFill>
          <a:ln/>
        </p:spPr>
      </p:sp>
      <p:sp>
        <p:nvSpPr>
          <p:cNvPr id="21" name="Text 19"/>
          <p:cNvSpPr/>
          <p:nvPr/>
        </p:nvSpPr>
        <p:spPr>
          <a:xfrm>
            <a:off x="6556248" y="3538728"/>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Factors influencing customer satisfaction</a:t>
            </a:r>
            <a:endParaRPr lang="en-US" dirty="0"/>
          </a:p>
        </p:txBody>
      </p:sp>
      <p:sp>
        <p:nvSpPr>
          <p:cNvPr id="22" name="Shape 20"/>
          <p:cNvSpPr/>
          <p:nvPr/>
        </p:nvSpPr>
        <p:spPr>
          <a:xfrm>
            <a:off x="6263640" y="4279392"/>
            <a:ext cx="100584" cy="100584"/>
          </a:xfrm>
          <a:prstGeom prst="ellipse">
            <a:avLst/>
          </a:prstGeom>
          <a:solidFill>
            <a:srgbClr val="00A896"/>
          </a:solidFill>
          <a:ln/>
        </p:spPr>
      </p:sp>
      <p:sp>
        <p:nvSpPr>
          <p:cNvPr id="23" name="Text 21"/>
          <p:cNvSpPr/>
          <p:nvPr/>
        </p:nvSpPr>
        <p:spPr>
          <a:xfrm>
            <a:off x="6556248" y="4160520"/>
            <a:ext cx="5102352" cy="62179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Data-driven business recommendations</a:t>
            </a:r>
            <a:endParaRPr lang="en-US" dirty="0"/>
          </a:p>
        </p:txBody>
      </p:sp>
      <p:sp>
        <p:nvSpPr>
          <p:cNvPr id="24" name="Text 22"/>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Dataset Description</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Brazilian E-Commerce Public Dataset</a:t>
            </a:r>
            <a:endParaRPr lang="en-US" sz="1400" dirty="0"/>
          </a:p>
        </p:txBody>
      </p:sp>
      <p:sp>
        <p:nvSpPr>
          <p:cNvPr id="4" name="Text 2"/>
          <p:cNvSpPr/>
          <p:nvPr/>
        </p:nvSpPr>
        <p:spPr>
          <a:xfrm>
            <a:off x="457200" y="1417320"/>
            <a:ext cx="10881360" cy="365760"/>
          </a:xfrm>
          <a:prstGeom prst="rect">
            <a:avLst/>
          </a:prstGeom>
          <a:noFill/>
          <a:ln/>
        </p:spPr>
        <p:txBody>
          <a:bodyPr wrap="square"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Source &amp; Scope</a:t>
            </a:r>
            <a:endParaRPr lang="en-US" sz="1700" dirty="0"/>
          </a:p>
        </p:txBody>
      </p:sp>
      <p:sp>
        <p:nvSpPr>
          <p:cNvPr id="5" name="Text 3"/>
          <p:cNvSpPr/>
          <p:nvPr/>
        </p:nvSpPr>
        <p:spPr>
          <a:xfrm>
            <a:off x="502920" y="1828800"/>
            <a:ext cx="10698480" cy="777240"/>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Source: Kaggle — Brazilian E-Commerce Public Dataset by Olist. It contains real, anonymized orders from ShopSphere-style marketplace transactions, used here to analyze revenue, product performance, customer behavior and delivery satisfaction.</a:t>
            </a:r>
            <a:endParaRPr lang="en-US" sz="1600" dirty="0"/>
          </a:p>
        </p:txBody>
      </p:sp>
      <p:sp>
        <p:nvSpPr>
          <p:cNvPr id="6" name="Text 4"/>
          <p:cNvSpPr/>
          <p:nvPr/>
        </p:nvSpPr>
        <p:spPr>
          <a:xfrm>
            <a:off x="457200" y="2697480"/>
            <a:ext cx="10881360" cy="365760"/>
          </a:xfrm>
          <a:prstGeom prst="rect">
            <a:avLst/>
          </a:prstGeom>
          <a:noFill/>
          <a:ln/>
        </p:spPr>
        <p:txBody>
          <a:bodyPr wrap="square"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Dataset Includes</a:t>
            </a:r>
            <a:endParaRPr lang="en-US" sz="1700" dirty="0"/>
          </a:p>
        </p:txBody>
      </p:sp>
      <p:sp>
        <p:nvSpPr>
          <p:cNvPr id="7" name="Shape 5"/>
          <p:cNvSpPr/>
          <p:nvPr/>
        </p:nvSpPr>
        <p:spPr>
          <a:xfrm>
            <a:off x="457200" y="3154680"/>
            <a:ext cx="3520440" cy="1417320"/>
          </a:xfrm>
          <a:prstGeom prst="roundRect">
            <a:avLst>
              <a:gd name="adj" fmla="val 4516"/>
            </a:avLst>
          </a:prstGeom>
          <a:solidFill>
            <a:srgbClr val="F2F2F2"/>
          </a:solidFill>
          <a:ln/>
        </p:spPr>
      </p:sp>
      <p:sp>
        <p:nvSpPr>
          <p:cNvPr id="8" name="Text 6"/>
          <p:cNvSpPr/>
          <p:nvPr/>
        </p:nvSpPr>
        <p:spPr>
          <a:xfrm>
            <a:off x="594360" y="326440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Orders &amp; Items</a:t>
            </a:r>
            <a:endParaRPr lang="en-US" sz="1350" dirty="0"/>
          </a:p>
        </p:txBody>
      </p:sp>
      <p:sp>
        <p:nvSpPr>
          <p:cNvPr id="9" name="Text 7"/>
          <p:cNvSpPr/>
          <p:nvPr/>
        </p:nvSpPr>
        <p:spPr>
          <a:xfrm>
            <a:off x="594360" y="3611880"/>
            <a:ext cx="3246120" cy="868680"/>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Order status, timestamps, prices and freight (olist_orders, olist_order_items)</a:t>
            </a:r>
            <a:endParaRPr lang="en-US" sz="1600" dirty="0"/>
          </a:p>
        </p:txBody>
      </p:sp>
      <p:sp>
        <p:nvSpPr>
          <p:cNvPr id="10" name="Shape 8"/>
          <p:cNvSpPr/>
          <p:nvPr/>
        </p:nvSpPr>
        <p:spPr>
          <a:xfrm>
            <a:off x="4114800" y="3154680"/>
            <a:ext cx="3520440" cy="1417320"/>
          </a:xfrm>
          <a:prstGeom prst="roundRect">
            <a:avLst>
              <a:gd name="adj" fmla="val 4516"/>
            </a:avLst>
          </a:prstGeom>
          <a:solidFill>
            <a:srgbClr val="F2F2F2"/>
          </a:solidFill>
          <a:ln/>
        </p:spPr>
      </p:sp>
      <p:sp>
        <p:nvSpPr>
          <p:cNvPr id="11" name="Text 9"/>
          <p:cNvSpPr/>
          <p:nvPr/>
        </p:nvSpPr>
        <p:spPr>
          <a:xfrm>
            <a:off x="4251960" y="326440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Payments</a:t>
            </a:r>
            <a:endParaRPr lang="en-US" sz="1350" dirty="0"/>
          </a:p>
        </p:txBody>
      </p:sp>
      <p:sp>
        <p:nvSpPr>
          <p:cNvPr id="12" name="Text 10"/>
          <p:cNvSpPr/>
          <p:nvPr/>
        </p:nvSpPr>
        <p:spPr>
          <a:xfrm>
            <a:off x="4251960" y="3611880"/>
            <a:ext cx="3246120" cy="868680"/>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Payment type, installments and value per order</a:t>
            </a:r>
            <a:endParaRPr lang="en-US" dirty="0"/>
          </a:p>
        </p:txBody>
      </p:sp>
      <p:sp>
        <p:nvSpPr>
          <p:cNvPr id="13" name="Shape 11"/>
          <p:cNvSpPr/>
          <p:nvPr/>
        </p:nvSpPr>
        <p:spPr>
          <a:xfrm>
            <a:off x="7772400" y="3154680"/>
            <a:ext cx="3520440" cy="1417320"/>
          </a:xfrm>
          <a:prstGeom prst="roundRect">
            <a:avLst>
              <a:gd name="adj" fmla="val 4516"/>
            </a:avLst>
          </a:prstGeom>
          <a:solidFill>
            <a:srgbClr val="F2F2F2"/>
          </a:solidFill>
          <a:ln/>
        </p:spPr>
      </p:sp>
      <p:sp>
        <p:nvSpPr>
          <p:cNvPr id="14" name="Text 12"/>
          <p:cNvSpPr/>
          <p:nvPr/>
        </p:nvSpPr>
        <p:spPr>
          <a:xfrm>
            <a:off x="7909560" y="326440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Reviews</a:t>
            </a:r>
            <a:endParaRPr lang="en-US" sz="1350" dirty="0"/>
          </a:p>
        </p:txBody>
      </p:sp>
      <p:sp>
        <p:nvSpPr>
          <p:cNvPr id="15" name="Text 13"/>
          <p:cNvSpPr/>
          <p:nvPr/>
        </p:nvSpPr>
        <p:spPr>
          <a:xfrm>
            <a:off x="7909560" y="3611880"/>
            <a:ext cx="3246120" cy="868680"/>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Customer review scores linked to each order</a:t>
            </a:r>
            <a:endParaRPr lang="en-US" dirty="0"/>
          </a:p>
        </p:txBody>
      </p:sp>
      <p:sp>
        <p:nvSpPr>
          <p:cNvPr id="16" name="Shape 14"/>
          <p:cNvSpPr/>
          <p:nvPr/>
        </p:nvSpPr>
        <p:spPr>
          <a:xfrm>
            <a:off x="457200" y="4709160"/>
            <a:ext cx="3520440" cy="1417320"/>
          </a:xfrm>
          <a:prstGeom prst="roundRect">
            <a:avLst>
              <a:gd name="adj" fmla="val 4516"/>
            </a:avLst>
          </a:prstGeom>
          <a:solidFill>
            <a:srgbClr val="F2F2F2"/>
          </a:solidFill>
          <a:ln/>
        </p:spPr>
      </p:sp>
      <p:sp>
        <p:nvSpPr>
          <p:cNvPr id="17" name="Text 15"/>
          <p:cNvSpPr/>
          <p:nvPr/>
        </p:nvSpPr>
        <p:spPr>
          <a:xfrm>
            <a:off x="594360" y="481888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Products</a:t>
            </a:r>
            <a:endParaRPr lang="en-US" sz="1350" dirty="0"/>
          </a:p>
        </p:txBody>
      </p:sp>
      <p:sp>
        <p:nvSpPr>
          <p:cNvPr id="18" name="Text 16"/>
          <p:cNvSpPr/>
          <p:nvPr/>
        </p:nvSpPr>
        <p:spPr>
          <a:xfrm>
            <a:off x="594360" y="5166360"/>
            <a:ext cx="3246120" cy="868680"/>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Product category (translated to English), dimensions and weight</a:t>
            </a:r>
            <a:endParaRPr lang="en-US" dirty="0"/>
          </a:p>
        </p:txBody>
      </p:sp>
      <p:sp>
        <p:nvSpPr>
          <p:cNvPr id="19" name="Shape 17"/>
          <p:cNvSpPr/>
          <p:nvPr/>
        </p:nvSpPr>
        <p:spPr>
          <a:xfrm>
            <a:off x="4114800" y="4709160"/>
            <a:ext cx="3520440" cy="1417320"/>
          </a:xfrm>
          <a:prstGeom prst="roundRect">
            <a:avLst>
              <a:gd name="adj" fmla="val 4516"/>
            </a:avLst>
          </a:prstGeom>
          <a:solidFill>
            <a:srgbClr val="F2F2F2"/>
          </a:solidFill>
          <a:ln/>
        </p:spPr>
      </p:sp>
      <p:sp>
        <p:nvSpPr>
          <p:cNvPr id="20" name="Text 18"/>
          <p:cNvSpPr/>
          <p:nvPr/>
        </p:nvSpPr>
        <p:spPr>
          <a:xfrm>
            <a:off x="4251960" y="481888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Customers &amp; Sellers</a:t>
            </a:r>
            <a:endParaRPr lang="en-US" sz="1350" dirty="0"/>
          </a:p>
        </p:txBody>
      </p:sp>
      <p:sp>
        <p:nvSpPr>
          <p:cNvPr id="21" name="Text 19"/>
          <p:cNvSpPr/>
          <p:nvPr/>
        </p:nvSpPr>
        <p:spPr>
          <a:xfrm>
            <a:off x="4251960" y="5166360"/>
            <a:ext cx="3246120" cy="868680"/>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Customer and seller location (city, state)</a:t>
            </a:r>
            <a:endParaRPr lang="en-US" dirty="0"/>
          </a:p>
        </p:txBody>
      </p:sp>
      <p:sp>
        <p:nvSpPr>
          <p:cNvPr id="22" name="Shape 20"/>
          <p:cNvSpPr/>
          <p:nvPr/>
        </p:nvSpPr>
        <p:spPr>
          <a:xfrm>
            <a:off x="7772400" y="4709160"/>
            <a:ext cx="3520440" cy="1417320"/>
          </a:xfrm>
          <a:prstGeom prst="roundRect">
            <a:avLst>
              <a:gd name="adj" fmla="val 4516"/>
            </a:avLst>
          </a:prstGeom>
          <a:solidFill>
            <a:srgbClr val="F2F2F2"/>
          </a:solidFill>
          <a:ln/>
        </p:spPr>
      </p:sp>
      <p:sp>
        <p:nvSpPr>
          <p:cNvPr id="23" name="Text 21"/>
          <p:cNvSpPr/>
          <p:nvPr/>
        </p:nvSpPr>
        <p:spPr>
          <a:xfrm>
            <a:off x="7909560" y="4818888"/>
            <a:ext cx="3246120" cy="320040"/>
          </a:xfrm>
          <a:prstGeom prst="rect">
            <a:avLst/>
          </a:prstGeom>
          <a:noFill/>
          <a:ln/>
        </p:spPr>
        <p:txBody>
          <a:bodyPr wrap="square" rtlCol="0" anchor="ctr"/>
          <a:lstStyle/>
          <a:p>
            <a:pPr marL="0" indent="0">
              <a:buNone/>
            </a:pPr>
            <a:r>
              <a:rPr lang="en-US" sz="1350" b="1" dirty="0">
                <a:solidFill>
                  <a:srgbClr val="028090"/>
                </a:solidFill>
                <a:latin typeface="Cambria" pitchFamily="34" charset="0"/>
                <a:ea typeface="Cambria" pitchFamily="34" charset="-122"/>
                <a:cs typeface="Cambria" pitchFamily="34" charset="-120"/>
              </a:rPr>
              <a:t>Geolocation</a:t>
            </a:r>
            <a:endParaRPr lang="en-US" sz="1350" dirty="0"/>
          </a:p>
        </p:txBody>
      </p:sp>
      <p:sp>
        <p:nvSpPr>
          <p:cNvPr id="24" name="Text 22"/>
          <p:cNvSpPr/>
          <p:nvPr/>
        </p:nvSpPr>
        <p:spPr>
          <a:xfrm>
            <a:off x="7909560" y="5166360"/>
            <a:ext cx="3246120" cy="868680"/>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Latitude/longitude by zip code, used for regional mapping</a:t>
            </a:r>
            <a:endParaRPr lang="en-US" dirty="0"/>
          </a:p>
        </p:txBody>
      </p:sp>
      <p:sp>
        <p:nvSpPr>
          <p:cNvPr id="25" name="Text 2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Data Cleaning</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Preparing data for analysis in Power Query</a:t>
            </a:r>
            <a:endParaRPr lang="en-US" sz="1400" dirty="0"/>
          </a:p>
        </p:txBody>
      </p:sp>
      <p:sp>
        <p:nvSpPr>
          <p:cNvPr id="4" name="Shape 2"/>
          <p:cNvSpPr/>
          <p:nvPr/>
        </p:nvSpPr>
        <p:spPr>
          <a:xfrm>
            <a:off x="502920" y="1655064"/>
            <a:ext cx="100584" cy="100584"/>
          </a:xfrm>
          <a:prstGeom prst="ellipse">
            <a:avLst/>
          </a:prstGeom>
          <a:solidFill>
            <a:srgbClr val="00A896"/>
          </a:solidFill>
          <a:ln/>
        </p:spPr>
      </p:sp>
      <p:sp>
        <p:nvSpPr>
          <p:cNvPr id="5" name="Text 3"/>
          <p:cNvSpPr/>
          <p:nvPr/>
        </p:nvSpPr>
        <p:spPr>
          <a:xfrm>
            <a:off x="795528" y="1536192"/>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Filtered order_status to exclude canceled and unavailable orders, so revenue reflects only completed sales</a:t>
            </a:r>
            <a:endParaRPr lang="en-US" dirty="0"/>
          </a:p>
        </p:txBody>
      </p:sp>
      <p:sp>
        <p:nvSpPr>
          <p:cNvPr id="6" name="Shape 4"/>
          <p:cNvSpPr/>
          <p:nvPr/>
        </p:nvSpPr>
        <p:spPr>
          <a:xfrm>
            <a:off x="502920" y="2414016"/>
            <a:ext cx="100584" cy="100584"/>
          </a:xfrm>
          <a:prstGeom prst="ellipse">
            <a:avLst/>
          </a:prstGeom>
          <a:solidFill>
            <a:srgbClr val="00A896"/>
          </a:solidFill>
          <a:ln/>
        </p:spPr>
      </p:sp>
      <p:sp>
        <p:nvSpPr>
          <p:cNvPr id="7" name="Text 5"/>
          <p:cNvSpPr/>
          <p:nvPr/>
        </p:nvSpPr>
        <p:spPr>
          <a:xfrm>
            <a:off x="795528" y="2295144"/>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Merged product_category_name_translation to convert Portuguese category names into English</a:t>
            </a:r>
            <a:endParaRPr lang="en-US" dirty="0"/>
          </a:p>
        </p:txBody>
      </p:sp>
      <p:sp>
        <p:nvSpPr>
          <p:cNvPr id="8" name="Shape 6"/>
          <p:cNvSpPr/>
          <p:nvPr/>
        </p:nvSpPr>
        <p:spPr>
          <a:xfrm>
            <a:off x="502920" y="3172968"/>
            <a:ext cx="100584" cy="100584"/>
          </a:xfrm>
          <a:prstGeom prst="ellipse">
            <a:avLst/>
          </a:prstGeom>
          <a:solidFill>
            <a:srgbClr val="00A896"/>
          </a:solidFill>
          <a:ln/>
        </p:spPr>
      </p:sp>
      <p:sp>
        <p:nvSpPr>
          <p:cNvPr id="9" name="Text 7"/>
          <p:cNvSpPr/>
          <p:nvPr/>
        </p:nvSpPr>
        <p:spPr>
          <a:xfrm>
            <a:off x="795528" y="3054096"/>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Converted data types and standardized date/timestamp columns across all tables</a:t>
            </a:r>
            <a:endParaRPr lang="en-US" dirty="0"/>
          </a:p>
        </p:txBody>
      </p:sp>
      <p:sp>
        <p:nvSpPr>
          <p:cNvPr id="10" name="Shape 8"/>
          <p:cNvSpPr/>
          <p:nvPr/>
        </p:nvSpPr>
        <p:spPr>
          <a:xfrm>
            <a:off x="502920" y="3931920"/>
            <a:ext cx="100584" cy="100584"/>
          </a:xfrm>
          <a:prstGeom prst="ellipse">
            <a:avLst/>
          </a:prstGeom>
          <a:solidFill>
            <a:srgbClr val="00A896"/>
          </a:solidFill>
          <a:ln/>
        </p:spPr>
      </p:sp>
      <p:sp>
        <p:nvSpPr>
          <p:cNvPr id="11" name="Text 9"/>
          <p:cNvSpPr/>
          <p:nvPr/>
        </p:nvSpPr>
        <p:spPr>
          <a:xfrm>
            <a:off x="795528" y="3813048"/>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Added a calculated Delivery Delay (days) column: delivered date minus estimated delivery date</a:t>
            </a:r>
            <a:endParaRPr lang="en-US" dirty="0"/>
          </a:p>
        </p:txBody>
      </p:sp>
      <p:sp>
        <p:nvSpPr>
          <p:cNvPr id="12" name="Shape 10"/>
          <p:cNvSpPr/>
          <p:nvPr/>
        </p:nvSpPr>
        <p:spPr>
          <a:xfrm>
            <a:off x="502920" y="4690872"/>
            <a:ext cx="100584" cy="100584"/>
          </a:xfrm>
          <a:prstGeom prst="ellipse">
            <a:avLst/>
          </a:prstGeom>
          <a:solidFill>
            <a:srgbClr val="00A896"/>
          </a:solidFill>
          <a:ln/>
        </p:spPr>
      </p:sp>
      <p:sp>
        <p:nvSpPr>
          <p:cNvPr id="13" name="Text 11"/>
          <p:cNvSpPr/>
          <p:nvPr/>
        </p:nvSpPr>
        <p:spPr>
          <a:xfrm>
            <a:off x="795528" y="4572000"/>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Built a Delivery Status bucket (Early / On Time / Slightly Late / Very Late / Not Delivered</a:t>
            </a:r>
            <a:r>
              <a:rPr lang="en-US" sz="1450" dirty="0">
                <a:solidFill>
                  <a:srgbClr val="212121"/>
                </a:solidFill>
                <a:latin typeface="Calibri" pitchFamily="34" charset="0"/>
                <a:ea typeface="Calibri" pitchFamily="34" charset="-122"/>
                <a:cs typeface="Calibri" pitchFamily="34" charset="-120"/>
              </a:rPr>
              <a:t>)</a:t>
            </a:r>
            <a:endParaRPr lang="en-US" sz="1450" dirty="0"/>
          </a:p>
        </p:txBody>
      </p:sp>
      <p:sp>
        <p:nvSpPr>
          <p:cNvPr id="14" name="Shape 12"/>
          <p:cNvSpPr/>
          <p:nvPr/>
        </p:nvSpPr>
        <p:spPr>
          <a:xfrm>
            <a:off x="502920" y="5449824"/>
            <a:ext cx="100584" cy="100584"/>
          </a:xfrm>
          <a:prstGeom prst="ellipse">
            <a:avLst/>
          </a:prstGeom>
          <a:solidFill>
            <a:srgbClr val="00A896"/>
          </a:solidFill>
          <a:ln/>
        </p:spPr>
      </p:sp>
      <p:sp>
        <p:nvSpPr>
          <p:cNvPr id="15" name="Text 13"/>
          <p:cNvSpPr/>
          <p:nvPr/>
        </p:nvSpPr>
        <p:spPr>
          <a:xfrm>
            <a:off x="795528" y="5330952"/>
            <a:ext cx="10405872" cy="758952"/>
          </a:xfrm>
          <a:prstGeom prst="rect">
            <a:avLst/>
          </a:prstGeom>
          <a:noFill/>
          <a:ln/>
        </p:spPr>
        <p:txBody>
          <a:bodyPr wrap="square" rtlCol="0" anchor="t"/>
          <a:lstStyle/>
          <a:p>
            <a:pPr marL="0" indent="0">
              <a:buNone/>
            </a:pPr>
            <a:r>
              <a:rPr lang="en-US" dirty="0">
                <a:solidFill>
                  <a:srgbClr val="212121"/>
                </a:solidFill>
                <a:latin typeface="Calibri" pitchFamily="34" charset="0"/>
                <a:ea typeface="Calibri" pitchFamily="34" charset="-122"/>
                <a:cs typeface="Calibri" pitchFamily="34" charset="-120"/>
              </a:rPr>
              <a:t>Removed unnecessary columns and handled blank category values to keep the model lean</a:t>
            </a:r>
            <a:endParaRPr lang="en-US"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Data Modeling</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Star schema built in Power BI</a:t>
            </a:r>
            <a:endParaRPr lang="en-US" sz="1400" dirty="0"/>
          </a:p>
        </p:txBody>
      </p:sp>
      <p:sp>
        <p:nvSpPr>
          <p:cNvPr id="4" name="Shape 2"/>
          <p:cNvSpPr/>
          <p:nvPr/>
        </p:nvSpPr>
        <p:spPr>
          <a:xfrm>
            <a:off x="502920" y="1563624"/>
            <a:ext cx="100584" cy="100584"/>
          </a:xfrm>
          <a:prstGeom prst="ellipse">
            <a:avLst/>
          </a:prstGeom>
          <a:solidFill>
            <a:srgbClr val="00A896"/>
          </a:solidFill>
          <a:ln/>
        </p:spPr>
      </p:sp>
      <p:sp>
        <p:nvSpPr>
          <p:cNvPr id="5" name="Text 3"/>
          <p:cNvSpPr/>
          <p:nvPr/>
        </p:nvSpPr>
        <p:spPr>
          <a:xfrm>
            <a:off x="795528" y="1444752"/>
            <a:ext cx="10405872" cy="38404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olist_orders_dataset is the central fact table, joined to order items, payments and reviews</a:t>
            </a:r>
            <a:endParaRPr lang="en-US" sz="1600" dirty="0"/>
          </a:p>
        </p:txBody>
      </p:sp>
      <p:sp>
        <p:nvSpPr>
          <p:cNvPr id="6" name="Shape 4"/>
          <p:cNvSpPr/>
          <p:nvPr/>
        </p:nvSpPr>
        <p:spPr>
          <a:xfrm>
            <a:off x="502920" y="1947672"/>
            <a:ext cx="100584" cy="100584"/>
          </a:xfrm>
          <a:prstGeom prst="ellipse">
            <a:avLst/>
          </a:prstGeom>
          <a:solidFill>
            <a:srgbClr val="00A896"/>
          </a:solidFill>
          <a:ln/>
        </p:spPr>
      </p:sp>
      <p:sp>
        <p:nvSpPr>
          <p:cNvPr id="7" name="Text 5"/>
          <p:cNvSpPr/>
          <p:nvPr/>
        </p:nvSpPr>
        <p:spPr>
          <a:xfrm>
            <a:off x="795528" y="1828800"/>
            <a:ext cx="10405872" cy="38404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Customers, products (with category translation), sellers and geolocation connect as dimensions</a:t>
            </a:r>
            <a:endParaRPr lang="en-US" sz="1600" dirty="0"/>
          </a:p>
        </p:txBody>
      </p:sp>
      <p:sp>
        <p:nvSpPr>
          <p:cNvPr id="8" name="Shape 6"/>
          <p:cNvSpPr/>
          <p:nvPr/>
        </p:nvSpPr>
        <p:spPr>
          <a:xfrm>
            <a:off x="502920" y="2331720"/>
            <a:ext cx="100584" cy="100584"/>
          </a:xfrm>
          <a:prstGeom prst="ellipse">
            <a:avLst/>
          </a:prstGeom>
          <a:solidFill>
            <a:srgbClr val="00A896"/>
          </a:solidFill>
          <a:ln/>
        </p:spPr>
      </p:sp>
      <p:sp>
        <p:nvSpPr>
          <p:cNvPr id="9" name="Text 7"/>
          <p:cNvSpPr/>
          <p:nvPr/>
        </p:nvSpPr>
        <p:spPr>
          <a:xfrm>
            <a:off x="795528" y="2212848"/>
            <a:ext cx="10405872" cy="38404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A dedicated DateTable supports month/quarter/year time-intelligence calculations</a:t>
            </a:r>
            <a:endParaRPr lang="en-US" sz="1600" dirty="0"/>
          </a:p>
        </p:txBody>
      </p:sp>
      <p:sp>
        <p:nvSpPr>
          <p:cNvPr id="10" name="Shape 8"/>
          <p:cNvSpPr/>
          <p:nvPr/>
        </p:nvSpPr>
        <p:spPr>
          <a:xfrm>
            <a:off x="502920" y="2715768"/>
            <a:ext cx="100584" cy="100584"/>
          </a:xfrm>
          <a:prstGeom prst="ellipse">
            <a:avLst/>
          </a:prstGeom>
          <a:solidFill>
            <a:srgbClr val="00A896"/>
          </a:solidFill>
          <a:ln/>
        </p:spPr>
      </p:sp>
      <p:sp>
        <p:nvSpPr>
          <p:cNvPr id="11" name="Text 9"/>
          <p:cNvSpPr/>
          <p:nvPr/>
        </p:nvSpPr>
        <p:spPr>
          <a:xfrm>
            <a:off x="795528" y="2596896"/>
            <a:ext cx="10405872" cy="384048"/>
          </a:xfrm>
          <a:prstGeom prst="rect">
            <a:avLst/>
          </a:prstGeom>
          <a:noFill/>
          <a:ln/>
        </p:spPr>
        <p:txBody>
          <a:bodyPr wrap="square" rtlCol="0" anchor="t"/>
          <a:lstStyle/>
          <a:p>
            <a:pPr marL="0" indent="0">
              <a:buNone/>
            </a:pPr>
            <a:r>
              <a:rPr lang="en-US" sz="1600" dirty="0">
                <a:solidFill>
                  <a:srgbClr val="212121"/>
                </a:solidFill>
                <a:latin typeface="Calibri" pitchFamily="34" charset="0"/>
                <a:ea typeface="Calibri" pitchFamily="34" charset="-122"/>
                <a:cs typeface="Calibri" pitchFamily="34" charset="-120"/>
              </a:rPr>
              <a:t>All relationships flow one-to-many from dimension tables into the fact table</a:t>
            </a:r>
            <a:endParaRPr lang="en-US" sz="1600" dirty="0"/>
          </a:p>
        </p:txBody>
      </p:sp>
      <p:sp>
        <p:nvSpPr>
          <p:cNvPr id="13" name="Text 10"/>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pic>
        <p:nvPicPr>
          <p:cNvPr id="15" name="Picture 14">
            <a:extLst>
              <a:ext uri="{FF2B5EF4-FFF2-40B4-BE49-F238E27FC236}">
                <a16:creationId xmlns:a16="http://schemas.microsoft.com/office/drawing/2014/main" id="{70BDFA12-1007-DC51-3479-D23899657AA1}"/>
              </a:ext>
            </a:extLst>
          </p:cNvPr>
          <p:cNvPicPr>
            <a:picLocks noChangeAspect="1"/>
          </p:cNvPicPr>
          <p:nvPr/>
        </p:nvPicPr>
        <p:blipFill>
          <a:blip r:embed="rId3"/>
          <a:stretch>
            <a:fillRect/>
          </a:stretch>
        </p:blipFill>
        <p:spPr>
          <a:xfrm>
            <a:off x="2298441" y="2990275"/>
            <a:ext cx="7595118" cy="36916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DAX Measures</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Purpose-built calculations powering every visual</a:t>
            </a:r>
            <a:endParaRPr lang="en-US" sz="1400" dirty="0"/>
          </a:p>
        </p:txBody>
      </p:sp>
      <p:sp>
        <p:nvSpPr>
          <p:cNvPr id="5" name="Text 2"/>
          <p:cNvSpPr/>
          <p:nvPr/>
        </p:nvSpPr>
        <p:spPr>
          <a:xfrm>
            <a:off x="5772341" y="1539738"/>
            <a:ext cx="8124673" cy="365760"/>
          </a:xfrm>
          <a:prstGeom prst="rect">
            <a:avLst/>
          </a:prstGeom>
          <a:noFill/>
          <a:ln/>
        </p:spPr>
        <p:txBody>
          <a:bodyPr wrap="square"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Purpose</a:t>
            </a:r>
            <a:endParaRPr lang="en-US" sz="1700" dirty="0"/>
          </a:p>
        </p:txBody>
      </p:sp>
      <p:sp>
        <p:nvSpPr>
          <p:cNvPr id="6" name="Shape 3"/>
          <p:cNvSpPr/>
          <p:nvPr/>
        </p:nvSpPr>
        <p:spPr>
          <a:xfrm>
            <a:off x="3737334" y="2227544"/>
            <a:ext cx="100584" cy="100584"/>
          </a:xfrm>
          <a:prstGeom prst="ellipse">
            <a:avLst/>
          </a:prstGeom>
          <a:solidFill>
            <a:srgbClr val="00A896"/>
          </a:solidFill>
          <a:ln/>
        </p:spPr>
      </p:sp>
      <p:sp>
        <p:nvSpPr>
          <p:cNvPr id="7" name="Text 4"/>
          <p:cNvSpPr/>
          <p:nvPr/>
        </p:nvSpPr>
        <p:spPr>
          <a:xfrm>
            <a:off x="4073879" y="2078114"/>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Calculated key business metrics using DAX, built on top of the star-schema model</a:t>
            </a:r>
            <a:endParaRPr lang="en-US" sz="1350" dirty="0"/>
          </a:p>
        </p:txBody>
      </p:sp>
      <p:sp>
        <p:nvSpPr>
          <p:cNvPr id="8" name="Shape 5"/>
          <p:cNvSpPr/>
          <p:nvPr/>
        </p:nvSpPr>
        <p:spPr>
          <a:xfrm>
            <a:off x="3755393" y="2626288"/>
            <a:ext cx="100584" cy="100584"/>
          </a:xfrm>
          <a:prstGeom prst="ellipse">
            <a:avLst/>
          </a:prstGeom>
          <a:solidFill>
            <a:srgbClr val="00A896"/>
          </a:solidFill>
          <a:ln/>
        </p:spPr>
      </p:sp>
      <p:sp>
        <p:nvSpPr>
          <p:cNvPr id="9" name="Text 6"/>
          <p:cNvSpPr/>
          <p:nvPr/>
        </p:nvSpPr>
        <p:spPr>
          <a:xfrm>
            <a:off x="4073881" y="2455164"/>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Total Revenue, Total Sales Value and Total Freight quantify overall business volume</a:t>
            </a:r>
            <a:endParaRPr lang="en-US" sz="1350" dirty="0"/>
          </a:p>
        </p:txBody>
      </p:sp>
      <p:sp>
        <p:nvSpPr>
          <p:cNvPr id="10" name="Shape 7"/>
          <p:cNvSpPr/>
          <p:nvPr/>
        </p:nvSpPr>
        <p:spPr>
          <a:xfrm>
            <a:off x="3805685" y="3099816"/>
            <a:ext cx="100584" cy="100584"/>
          </a:xfrm>
          <a:prstGeom prst="ellipse">
            <a:avLst/>
          </a:prstGeom>
          <a:solidFill>
            <a:srgbClr val="00A896"/>
          </a:solidFill>
          <a:ln/>
        </p:spPr>
      </p:sp>
      <p:sp>
        <p:nvSpPr>
          <p:cNvPr id="11" name="Text 8"/>
          <p:cNvSpPr/>
          <p:nvPr/>
        </p:nvSpPr>
        <p:spPr>
          <a:xfrm>
            <a:off x="4073880" y="2951926"/>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Order Count, Total Customers, Avg Order Value and Repeat Customer % track engagement</a:t>
            </a:r>
            <a:endParaRPr lang="en-US" sz="1350" dirty="0"/>
          </a:p>
        </p:txBody>
      </p:sp>
      <p:sp>
        <p:nvSpPr>
          <p:cNvPr id="12" name="Shape 9"/>
          <p:cNvSpPr/>
          <p:nvPr/>
        </p:nvSpPr>
        <p:spPr>
          <a:xfrm>
            <a:off x="3805685" y="3599144"/>
            <a:ext cx="100584" cy="100584"/>
          </a:xfrm>
          <a:prstGeom prst="ellipse">
            <a:avLst/>
          </a:prstGeom>
          <a:solidFill>
            <a:srgbClr val="00A896"/>
          </a:solidFill>
          <a:ln/>
        </p:spPr>
      </p:sp>
      <p:sp>
        <p:nvSpPr>
          <p:cNvPr id="13" name="Text 10"/>
          <p:cNvSpPr/>
          <p:nvPr/>
        </p:nvSpPr>
        <p:spPr>
          <a:xfrm>
            <a:off x="4073878" y="3466509"/>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Avg Review Score, Delivery Delay (days) and Late Delivery % surface satisfaction drivers</a:t>
            </a:r>
            <a:endParaRPr lang="en-US" sz="1350" dirty="0"/>
          </a:p>
        </p:txBody>
      </p:sp>
      <p:sp>
        <p:nvSpPr>
          <p:cNvPr id="14" name="Shape 11"/>
          <p:cNvSpPr/>
          <p:nvPr/>
        </p:nvSpPr>
        <p:spPr>
          <a:xfrm>
            <a:off x="3837918" y="4144844"/>
            <a:ext cx="100584" cy="100584"/>
          </a:xfrm>
          <a:prstGeom prst="ellipse">
            <a:avLst/>
          </a:prstGeom>
          <a:solidFill>
            <a:srgbClr val="00A896"/>
          </a:solidFill>
          <a:ln/>
        </p:spPr>
      </p:sp>
      <p:sp>
        <p:nvSpPr>
          <p:cNvPr id="15" name="Text 12"/>
          <p:cNvSpPr/>
          <p:nvPr/>
        </p:nvSpPr>
        <p:spPr>
          <a:xfrm>
            <a:off x="4073881" y="3988370"/>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MoM Revenue Growth % tracks month-over-month momentum for trend reporting</a:t>
            </a:r>
            <a:endParaRPr lang="en-US" sz="1350" dirty="0"/>
          </a:p>
        </p:txBody>
      </p:sp>
      <p:sp>
        <p:nvSpPr>
          <p:cNvPr id="16" name="Shape 13"/>
          <p:cNvSpPr/>
          <p:nvPr/>
        </p:nvSpPr>
        <p:spPr>
          <a:xfrm>
            <a:off x="3814413" y="4670578"/>
            <a:ext cx="100584" cy="100584"/>
          </a:xfrm>
          <a:prstGeom prst="ellipse">
            <a:avLst/>
          </a:prstGeom>
          <a:solidFill>
            <a:srgbClr val="00A896"/>
          </a:solidFill>
          <a:ln/>
        </p:spPr>
      </p:sp>
      <p:sp>
        <p:nvSpPr>
          <p:cNvPr id="17" name="Text 14"/>
          <p:cNvSpPr/>
          <p:nvPr/>
        </p:nvSpPr>
        <p:spPr>
          <a:xfrm>
            <a:off x="4073881" y="4518722"/>
            <a:ext cx="7786345" cy="566928"/>
          </a:xfrm>
          <a:prstGeom prst="rect">
            <a:avLst/>
          </a:prstGeom>
          <a:noFill/>
          <a:ln/>
        </p:spPr>
        <p:txBody>
          <a:bodyPr wrap="square" rtlCol="0" anchor="t"/>
          <a:lstStyle/>
          <a:p>
            <a:pPr marL="0" indent="0">
              <a:buNone/>
            </a:pPr>
            <a:r>
              <a:rPr lang="en-US" sz="1350" dirty="0">
                <a:solidFill>
                  <a:srgbClr val="212121"/>
                </a:solidFill>
                <a:latin typeface="Calibri" pitchFamily="34" charset="0"/>
                <a:ea typeface="Calibri" pitchFamily="34" charset="-122"/>
                <a:cs typeface="Calibri" pitchFamily="34" charset="-120"/>
              </a:rPr>
              <a:t>Every measure was built once and reused across all three dashboard pages</a:t>
            </a:r>
            <a:endParaRPr lang="en-US" sz="1350" dirty="0"/>
          </a:p>
        </p:txBody>
      </p:sp>
      <p:sp>
        <p:nvSpPr>
          <p:cNvPr id="18" name="Text 15"/>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pic>
        <p:nvPicPr>
          <p:cNvPr id="20" name="Picture 19">
            <a:extLst>
              <a:ext uri="{FF2B5EF4-FFF2-40B4-BE49-F238E27FC236}">
                <a16:creationId xmlns:a16="http://schemas.microsoft.com/office/drawing/2014/main" id="{A1E615A5-6677-036B-65A3-917821BE7B95}"/>
              </a:ext>
            </a:extLst>
          </p:cNvPr>
          <p:cNvPicPr>
            <a:picLocks noChangeAspect="1"/>
          </p:cNvPicPr>
          <p:nvPr/>
        </p:nvPicPr>
        <p:blipFill>
          <a:blip r:embed="rId3"/>
          <a:stretch>
            <a:fillRect/>
          </a:stretch>
        </p:blipFill>
        <p:spPr>
          <a:xfrm>
            <a:off x="331774" y="1161287"/>
            <a:ext cx="2790673" cy="55007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Dashboard: Executive Overview</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Overall revenue and monthly sales trends</a:t>
            </a:r>
            <a:endParaRPr lang="en-US" sz="1400" dirty="0"/>
          </a:p>
        </p:txBody>
      </p:sp>
      <p:sp>
        <p:nvSpPr>
          <p:cNvPr id="5" name="Text 2"/>
          <p:cNvSpPr/>
          <p:nvPr/>
        </p:nvSpPr>
        <p:spPr>
          <a:xfrm>
            <a:off x="457200" y="6355080"/>
            <a:ext cx="11247120" cy="365760"/>
          </a:xfrm>
          <a:prstGeom prst="rect">
            <a:avLst/>
          </a:prstGeom>
          <a:noFill/>
          <a:ln/>
        </p:spPr>
        <p:txBody>
          <a:bodyPr wrap="square" rtlCol="0" anchor="ctr"/>
          <a:lstStyle/>
          <a:p>
            <a:pPr marL="0" indent="0">
              <a:buNone/>
            </a:pPr>
            <a:r>
              <a:rPr lang="en-US" sz="1600" b="1" dirty="0">
                <a:solidFill>
                  <a:srgbClr val="6B6B6B"/>
                </a:solidFill>
                <a:latin typeface="Calibri" pitchFamily="34" charset="0"/>
                <a:ea typeface="Calibri" pitchFamily="34" charset="-122"/>
                <a:cs typeface="Calibri" pitchFamily="34" charset="-120"/>
              </a:rPr>
              <a:t>Total Revenue, order count, average order value and total customers, alongside monthly revenue trend and payment-type split.</a:t>
            </a:r>
            <a:endParaRPr lang="en-US" sz="1600" b="1" dirty="0"/>
          </a:p>
        </p:txBody>
      </p:sp>
      <p:sp>
        <p:nvSpPr>
          <p:cNvPr id="6"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pic>
        <p:nvPicPr>
          <p:cNvPr id="8" name="Picture 7">
            <a:extLst>
              <a:ext uri="{FF2B5EF4-FFF2-40B4-BE49-F238E27FC236}">
                <a16:creationId xmlns:a16="http://schemas.microsoft.com/office/drawing/2014/main" id="{03147195-0022-C1DE-8018-CDBA42B1611E}"/>
              </a:ext>
            </a:extLst>
          </p:cNvPr>
          <p:cNvPicPr>
            <a:picLocks noChangeAspect="1"/>
          </p:cNvPicPr>
          <p:nvPr/>
        </p:nvPicPr>
        <p:blipFill>
          <a:blip r:embed="rId3"/>
          <a:stretch>
            <a:fillRect/>
          </a:stretch>
        </p:blipFill>
        <p:spPr>
          <a:xfrm>
            <a:off x="356429" y="1161288"/>
            <a:ext cx="11448661" cy="51085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Dashboard: Product &amp; Category</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Which products and categories drive revenue and ratings</a:t>
            </a:r>
            <a:endParaRPr lang="en-US" sz="1400" dirty="0"/>
          </a:p>
        </p:txBody>
      </p:sp>
      <p:sp>
        <p:nvSpPr>
          <p:cNvPr id="5" name="Text 2"/>
          <p:cNvSpPr/>
          <p:nvPr/>
        </p:nvSpPr>
        <p:spPr>
          <a:xfrm>
            <a:off x="457200" y="6263640"/>
            <a:ext cx="11247120" cy="365760"/>
          </a:xfrm>
          <a:prstGeom prst="rect">
            <a:avLst/>
          </a:prstGeom>
          <a:noFill/>
          <a:ln/>
        </p:spPr>
        <p:txBody>
          <a:bodyPr wrap="square" rtlCol="0" anchor="ctr"/>
          <a:lstStyle/>
          <a:p>
            <a:pPr marL="0" indent="0">
              <a:buNone/>
            </a:pPr>
            <a:r>
              <a:rPr lang="en-US" sz="1600" b="1" dirty="0">
                <a:solidFill>
                  <a:srgbClr val="6B6B6B"/>
                </a:solidFill>
                <a:latin typeface="Calibri" pitchFamily="34" charset="0"/>
                <a:ea typeface="Calibri" pitchFamily="34" charset="-122"/>
                <a:cs typeface="Calibri" pitchFamily="34" charset="-120"/>
              </a:rPr>
              <a:t>Revenue by category, treemap view, average review score and order count per category — highlighting top performers and categories needing attention</a:t>
            </a:r>
            <a:r>
              <a:rPr lang="en-US" sz="1150" i="1" dirty="0">
                <a:solidFill>
                  <a:srgbClr val="6B6B6B"/>
                </a:solidFill>
                <a:latin typeface="Calibri" pitchFamily="34" charset="0"/>
                <a:ea typeface="Calibri" pitchFamily="34" charset="-122"/>
                <a:cs typeface="Calibri" pitchFamily="34" charset="-120"/>
              </a:rPr>
              <a:t>.</a:t>
            </a:r>
            <a:endParaRPr lang="en-US" sz="1150" dirty="0"/>
          </a:p>
        </p:txBody>
      </p:sp>
      <p:sp>
        <p:nvSpPr>
          <p:cNvPr id="6"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pic>
        <p:nvPicPr>
          <p:cNvPr id="8" name="Picture 7">
            <a:extLst>
              <a:ext uri="{FF2B5EF4-FFF2-40B4-BE49-F238E27FC236}">
                <a16:creationId xmlns:a16="http://schemas.microsoft.com/office/drawing/2014/main" id="{9DD336C8-092C-95AB-29BE-3B40D1411452}"/>
              </a:ext>
            </a:extLst>
          </p:cNvPr>
          <p:cNvPicPr>
            <a:picLocks noChangeAspect="1"/>
          </p:cNvPicPr>
          <p:nvPr/>
        </p:nvPicPr>
        <p:blipFill>
          <a:blip r:embed="rId3"/>
          <a:stretch>
            <a:fillRect/>
          </a:stretch>
        </p:blipFill>
        <p:spPr>
          <a:xfrm>
            <a:off x="502919" y="1298448"/>
            <a:ext cx="11247121" cy="46725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Dashboard: Customer &amp; Region</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Top customers, revenue by state, and payment satisfaction</a:t>
            </a:r>
            <a:endParaRPr lang="en-US" sz="1400" dirty="0"/>
          </a:p>
        </p:txBody>
      </p:sp>
      <p:sp>
        <p:nvSpPr>
          <p:cNvPr id="5" name="Text 2"/>
          <p:cNvSpPr/>
          <p:nvPr/>
        </p:nvSpPr>
        <p:spPr>
          <a:xfrm>
            <a:off x="457200" y="6355080"/>
            <a:ext cx="11247120" cy="365760"/>
          </a:xfrm>
          <a:prstGeom prst="rect">
            <a:avLst/>
          </a:prstGeom>
          <a:noFill/>
          <a:ln/>
        </p:spPr>
        <p:txBody>
          <a:bodyPr wrap="square" rtlCol="0" anchor="ctr"/>
          <a:lstStyle/>
          <a:p>
            <a:pPr marL="0" indent="0">
              <a:buNone/>
            </a:pPr>
            <a:r>
              <a:rPr lang="en-US" sz="1600" b="1" dirty="0">
                <a:solidFill>
                  <a:srgbClr val="6B6B6B"/>
                </a:solidFill>
                <a:latin typeface="Calibri" pitchFamily="34" charset="0"/>
                <a:ea typeface="Calibri" pitchFamily="34" charset="-122"/>
                <a:cs typeface="Calibri" pitchFamily="34" charset="-120"/>
              </a:rPr>
              <a:t>Top revenue-generating customers, revenue by state , and average review score by payment type.</a:t>
            </a:r>
            <a:endParaRPr lang="en-US" sz="1600" b="1" dirty="0"/>
          </a:p>
        </p:txBody>
      </p:sp>
      <p:sp>
        <p:nvSpPr>
          <p:cNvPr id="6"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pic>
        <p:nvPicPr>
          <p:cNvPr id="8" name="Picture 7">
            <a:extLst>
              <a:ext uri="{FF2B5EF4-FFF2-40B4-BE49-F238E27FC236}">
                <a16:creationId xmlns:a16="http://schemas.microsoft.com/office/drawing/2014/main" id="{6388D17D-1EA8-5115-CAF3-8FA1308B27FD}"/>
              </a:ext>
            </a:extLst>
          </p:cNvPr>
          <p:cNvPicPr>
            <a:picLocks noChangeAspect="1"/>
          </p:cNvPicPr>
          <p:nvPr/>
        </p:nvPicPr>
        <p:blipFill>
          <a:blip r:embed="rId3"/>
          <a:stretch>
            <a:fillRect/>
          </a:stretch>
        </p:blipFill>
        <p:spPr>
          <a:xfrm>
            <a:off x="457200" y="1298447"/>
            <a:ext cx="11346024" cy="49011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Dashboard: Geographic Distribution</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dirty="0">
                <a:solidFill>
                  <a:srgbClr val="028090"/>
                </a:solidFill>
                <a:latin typeface="Calibri" pitchFamily="34" charset="0"/>
                <a:ea typeface="Calibri" pitchFamily="34" charset="-122"/>
                <a:cs typeface="Calibri" pitchFamily="34" charset="-120"/>
              </a:rPr>
              <a:t>Where ShopSphere's customers and revenue are concentrated</a:t>
            </a:r>
            <a:endParaRPr lang="en-US" sz="1400" dirty="0"/>
          </a:p>
        </p:txBody>
      </p:sp>
      <p:sp>
        <p:nvSpPr>
          <p:cNvPr id="5" name="Text 2"/>
          <p:cNvSpPr/>
          <p:nvPr/>
        </p:nvSpPr>
        <p:spPr>
          <a:xfrm>
            <a:off x="457200" y="6355080"/>
            <a:ext cx="11247120" cy="365760"/>
          </a:xfrm>
          <a:prstGeom prst="rect">
            <a:avLst/>
          </a:prstGeom>
          <a:noFill/>
          <a:ln/>
        </p:spPr>
        <p:txBody>
          <a:bodyPr wrap="square" rtlCol="0" anchor="ctr"/>
          <a:lstStyle/>
          <a:p>
            <a:pPr marL="0" indent="0">
              <a:buNone/>
            </a:pPr>
            <a:endParaRPr lang="en-US" sz="1150" dirty="0"/>
          </a:p>
        </p:txBody>
      </p:sp>
      <p:sp>
        <p:nvSpPr>
          <p:cNvPr id="6"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pic>
        <p:nvPicPr>
          <p:cNvPr id="8" name="Picture 7">
            <a:extLst>
              <a:ext uri="{FF2B5EF4-FFF2-40B4-BE49-F238E27FC236}">
                <a16:creationId xmlns:a16="http://schemas.microsoft.com/office/drawing/2014/main" id="{567F00FD-9792-E09F-D757-90A08E679C77}"/>
              </a:ext>
            </a:extLst>
          </p:cNvPr>
          <p:cNvPicPr>
            <a:picLocks noChangeAspect="1"/>
          </p:cNvPicPr>
          <p:nvPr/>
        </p:nvPicPr>
        <p:blipFill>
          <a:blip r:embed="rId3"/>
          <a:stretch>
            <a:fillRect/>
          </a:stretch>
        </p:blipFill>
        <p:spPr>
          <a:xfrm>
            <a:off x="457200" y="1389888"/>
            <a:ext cx="11144483" cy="50759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Business Requirements Addressed</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Mapping each dashboard view to a client question</a:t>
            </a:r>
            <a:endParaRPr lang="en-US" sz="1400" dirty="0"/>
          </a:p>
        </p:txBody>
      </p:sp>
      <p:sp>
        <p:nvSpPr>
          <p:cNvPr id="4" name="Shape 2"/>
          <p:cNvSpPr/>
          <p:nvPr/>
        </p:nvSpPr>
        <p:spPr>
          <a:xfrm>
            <a:off x="457200" y="1508760"/>
            <a:ext cx="384048" cy="384048"/>
          </a:xfrm>
          <a:prstGeom prst="ellipse">
            <a:avLst/>
          </a:prstGeom>
          <a:solidFill>
            <a:srgbClr val="028090"/>
          </a:solidFill>
          <a:ln/>
        </p:spPr>
      </p:sp>
      <p:sp>
        <p:nvSpPr>
          <p:cNvPr id="5" name="Text 3"/>
          <p:cNvSpPr/>
          <p:nvPr/>
        </p:nvSpPr>
        <p:spPr>
          <a:xfrm>
            <a:off x="457200" y="150876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987552" y="1481328"/>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Overall revenue generated</a:t>
            </a:r>
            <a:endParaRPr lang="en-US" dirty="0"/>
          </a:p>
        </p:txBody>
      </p:sp>
      <p:sp>
        <p:nvSpPr>
          <p:cNvPr id="7" name="Text 5"/>
          <p:cNvSpPr/>
          <p:nvPr/>
        </p:nvSpPr>
        <p:spPr>
          <a:xfrm>
            <a:off x="987552" y="1801368"/>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Executive Overview KPI cards</a:t>
            </a:r>
            <a:endParaRPr lang="en-US" sz="1400" dirty="0"/>
          </a:p>
        </p:txBody>
      </p:sp>
      <p:sp>
        <p:nvSpPr>
          <p:cNvPr id="8" name="Shape 6"/>
          <p:cNvSpPr/>
          <p:nvPr/>
        </p:nvSpPr>
        <p:spPr>
          <a:xfrm>
            <a:off x="457200" y="2478024"/>
            <a:ext cx="384048" cy="384048"/>
          </a:xfrm>
          <a:prstGeom prst="ellipse">
            <a:avLst/>
          </a:prstGeom>
          <a:solidFill>
            <a:srgbClr val="028090"/>
          </a:solidFill>
          <a:ln/>
        </p:spPr>
      </p:sp>
      <p:sp>
        <p:nvSpPr>
          <p:cNvPr id="9" name="Text 7"/>
          <p:cNvSpPr/>
          <p:nvPr/>
        </p:nvSpPr>
        <p:spPr>
          <a:xfrm>
            <a:off x="457200" y="2478024"/>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987552" y="2450592"/>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Top products &amp; categories by revenue</a:t>
            </a:r>
            <a:endParaRPr lang="en-US" dirty="0"/>
          </a:p>
        </p:txBody>
      </p:sp>
      <p:sp>
        <p:nvSpPr>
          <p:cNvPr id="11" name="Text 9"/>
          <p:cNvSpPr/>
          <p:nvPr/>
        </p:nvSpPr>
        <p:spPr>
          <a:xfrm>
            <a:off x="987552" y="2770632"/>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Product &amp; Category page</a:t>
            </a:r>
            <a:endParaRPr lang="en-US" sz="1400" dirty="0"/>
          </a:p>
        </p:txBody>
      </p:sp>
      <p:sp>
        <p:nvSpPr>
          <p:cNvPr id="12" name="Shape 10"/>
          <p:cNvSpPr/>
          <p:nvPr/>
        </p:nvSpPr>
        <p:spPr>
          <a:xfrm>
            <a:off x="457200" y="3447288"/>
            <a:ext cx="384048" cy="384048"/>
          </a:xfrm>
          <a:prstGeom prst="ellipse">
            <a:avLst/>
          </a:prstGeom>
          <a:solidFill>
            <a:srgbClr val="028090"/>
          </a:solidFill>
          <a:ln/>
        </p:spPr>
      </p:sp>
      <p:sp>
        <p:nvSpPr>
          <p:cNvPr id="13" name="Text 11"/>
          <p:cNvSpPr/>
          <p:nvPr/>
        </p:nvSpPr>
        <p:spPr>
          <a:xfrm>
            <a:off x="457200" y="34472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987552" y="3419856"/>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Highest revenue-contributing customers</a:t>
            </a:r>
            <a:endParaRPr lang="en-US" dirty="0"/>
          </a:p>
        </p:txBody>
      </p:sp>
      <p:sp>
        <p:nvSpPr>
          <p:cNvPr id="15" name="Text 13"/>
          <p:cNvSpPr/>
          <p:nvPr/>
        </p:nvSpPr>
        <p:spPr>
          <a:xfrm>
            <a:off x="987552" y="3739896"/>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Customer &amp; Region page</a:t>
            </a:r>
            <a:endParaRPr lang="en-US" sz="1400" dirty="0"/>
          </a:p>
        </p:txBody>
      </p:sp>
      <p:sp>
        <p:nvSpPr>
          <p:cNvPr id="16" name="Shape 14"/>
          <p:cNvSpPr/>
          <p:nvPr/>
        </p:nvSpPr>
        <p:spPr>
          <a:xfrm>
            <a:off x="457200" y="4416552"/>
            <a:ext cx="384048" cy="384048"/>
          </a:xfrm>
          <a:prstGeom prst="ellipse">
            <a:avLst/>
          </a:prstGeom>
          <a:solidFill>
            <a:srgbClr val="028090"/>
          </a:solidFill>
          <a:ln/>
        </p:spPr>
      </p:sp>
      <p:sp>
        <p:nvSpPr>
          <p:cNvPr id="17" name="Text 15"/>
          <p:cNvSpPr/>
          <p:nvPr/>
        </p:nvSpPr>
        <p:spPr>
          <a:xfrm>
            <a:off x="457200" y="4416552"/>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987552" y="4389120"/>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Monthly sales trend</a:t>
            </a:r>
            <a:endParaRPr lang="en-US" dirty="0"/>
          </a:p>
        </p:txBody>
      </p:sp>
      <p:sp>
        <p:nvSpPr>
          <p:cNvPr id="19" name="Text 17"/>
          <p:cNvSpPr/>
          <p:nvPr/>
        </p:nvSpPr>
        <p:spPr>
          <a:xfrm>
            <a:off x="987552" y="4709160"/>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Executive Overview line chart</a:t>
            </a:r>
            <a:endParaRPr lang="en-US" sz="1400" dirty="0"/>
          </a:p>
        </p:txBody>
      </p:sp>
      <p:sp>
        <p:nvSpPr>
          <p:cNvPr id="20" name="Shape 18"/>
          <p:cNvSpPr/>
          <p:nvPr/>
        </p:nvSpPr>
        <p:spPr>
          <a:xfrm>
            <a:off x="457200" y="5385816"/>
            <a:ext cx="384048" cy="384048"/>
          </a:xfrm>
          <a:prstGeom prst="ellipse">
            <a:avLst/>
          </a:prstGeom>
          <a:solidFill>
            <a:srgbClr val="028090"/>
          </a:solidFill>
          <a:ln/>
        </p:spPr>
      </p:sp>
      <p:sp>
        <p:nvSpPr>
          <p:cNvPr id="21" name="Text 19"/>
          <p:cNvSpPr/>
          <p:nvPr/>
        </p:nvSpPr>
        <p:spPr>
          <a:xfrm>
            <a:off x="457200" y="538581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987552" y="5358384"/>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Highest / lowest rated products</a:t>
            </a:r>
            <a:endParaRPr lang="en-US" dirty="0"/>
          </a:p>
        </p:txBody>
      </p:sp>
      <p:sp>
        <p:nvSpPr>
          <p:cNvPr id="23" name="Text 21"/>
          <p:cNvSpPr/>
          <p:nvPr/>
        </p:nvSpPr>
        <p:spPr>
          <a:xfrm>
            <a:off x="987552" y="5678424"/>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Product &amp; Category ratings chart</a:t>
            </a:r>
            <a:endParaRPr lang="en-US" sz="1400" dirty="0"/>
          </a:p>
        </p:txBody>
      </p:sp>
      <p:sp>
        <p:nvSpPr>
          <p:cNvPr id="24" name="Shape 22"/>
          <p:cNvSpPr/>
          <p:nvPr/>
        </p:nvSpPr>
        <p:spPr>
          <a:xfrm>
            <a:off x="6172200" y="1508760"/>
            <a:ext cx="384048" cy="384048"/>
          </a:xfrm>
          <a:prstGeom prst="ellipse">
            <a:avLst/>
          </a:prstGeom>
          <a:solidFill>
            <a:srgbClr val="028090"/>
          </a:solidFill>
          <a:ln/>
        </p:spPr>
      </p:sp>
      <p:sp>
        <p:nvSpPr>
          <p:cNvPr id="25" name="Text 23"/>
          <p:cNvSpPr/>
          <p:nvPr/>
        </p:nvSpPr>
        <p:spPr>
          <a:xfrm>
            <a:off x="6172200" y="150876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6702552" y="1481328"/>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Purchasing patterns by region</a:t>
            </a:r>
            <a:endParaRPr lang="en-US" dirty="0"/>
          </a:p>
        </p:txBody>
      </p:sp>
      <p:sp>
        <p:nvSpPr>
          <p:cNvPr id="27" name="Text 25"/>
          <p:cNvSpPr/>
          <p:nvPr/>
        </p:nvSpPr>
        <p:spPr>
          <a:xfrm>
            <a:off x="6702552" y="1801368"/>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Geographic Distribution map</a:t>
            </a:r>
            <a:endParaRPr lang="en-US" sz="1400" dirty="0"/>
          </a:p>
        </p:txBody>
      </p:sp>
      <p:sp>
        <p:nvSpPr>
          <p:cNvPr id="28" name="Shape 26"/>
          <p:cNvSpPr/>
          <p:nvPr/>
        </p:nvSpPr>
        <p:spPr>
          <a:xfrm>
            <a:off x="6172200" y="2478024"/>
            <a:ext cx="384048" cy="384048"/>
          </a:xfrm>
          <a:prstGeom prst="ellipse">
            <a:avLst/>
          </a:prstGeom>
          <a:solidFill>
            <a:srgbClr val="028090"/>
          </a:solidFill>
          <a:ln/>
        </p:spPr>
      </p:sp>
      <p:sp>
        <p:nvSpPr>
          <p:cNvPr id="29" name="Text 27"/>
          <p:cNvSpPr/>
          <p:nvPr/>
        </p:nvSpPr>
        <p:spPr>
          <a:xfrm>
            <a:off x="6172200" y="2478024"/>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0" name="Text 28"/>
          <p:cNvSpPr/>
          <p:nvPr/>
        </p:nvSpPr>
        <p:spPr>
          <a:xfrm>
            <a:off x="6702552" y="2450592"/>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Frequently purchased products</a:t>
            </a:r>
            <a:endParaRPr lang="en-US" dirty="0"/>
          </a:p>
        </p:txBody>
      </p:sp>
      <p:sp>
        <p:nvSpPr>
          <p:cNvPr id="31" name="Text 29"/>
          <p:cNvSpPr/>
          <p:nvPr/>
        </p:nvSpPr>
        <p:spPr>
          <a:xfrm>
            <a:off x="6702552" y="2770632"/>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Product &amp; Category order count</a:t>
            </a:r>
            <a:endParaRPr lang="en-US" sz="1400" dirty="0"/>
          </a:p>
        </p:txBody>
      </p:sp>
      <p:sp>
        <p:nvSpPr>
          <p:cNvPr id="32" name="Shape 30"/>
          <p:cNvSpPr/>
          <p:nvPr/>
        </p:nvSpPr>
        <p:spPr>
          <a:xfrm>
            <a:off x="6172200" y="3447288"/>
            <a:ext cx="384048" cy="384048"/>
          </a:xfrm>
          <a:prstGeom prst="ellipse">
            <a:avLst/>
          </a:prstGeom>
          <a:solidFill>
            <a:srgbClr val="028090"/>
          </a:solidFill>
          <a:ln/>
        </p:spPr>
      </p:sp>
      <p:sp>
        <p:nvSpPr>
          <p:cNvPr id="33" name="Text 31"/>
          <p:cNvSpPr/>
          <p:nvPr/>
        </p:nvSpPr>
        <p:spPr>
          <a:xfrm>
            <a:off x="6172200" y="34472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4" name="Text 32"/>
          <p:cNvSpPr/>
          <p:nvPr/>
        </p:nvSpPr>
        <p:spPr>
          <a:xfrm>
            <a:off x="6702552" y="3419856"/>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Categories needing attention</a:t>
            </a:r>
            <a:endParaRPr lang="en-US" dirty="0"/>
          </a:p>
        </p:txBody>
      </p:sp>
      <p:sp>
        <p:nvSpPr>
          <p:cNvPr id="35" name="Text 33"/>
          <p:cNvSpPr/>
          <p:nvPr/>
        </p:nvSpPr>
        <p:spPr>
          <a:xfrm>
            <a:off x="6702552" y="3739896"/>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Category revenue vs. rating view</a:t>
            </a:r>
            <a:endParaRPr lang="en-US" sz="1400" dirty="0"/>
          </a:p>
        </p:txBody>
      </p:sp>
      <p:sp>
        <p:nvSpPr>
          <p:cNvPr id="36" name="Shape 34"/>
          <p:cNvSpPr/>
          <p:nvPr/>
        </p:nvSpPr>
        <p:spPr>
          <a:xfrm>
            <a:off x="6172200" y="4416552"/>
            <a:ext cx="384048" cy="384048"/>
          </a:xfrm>
          <a:prstGeom prst="ellipse">
            <a:avLst/>
          </a:prstGeom>
          <a:solidFill>
            <a:srgbClr val="028090"/>
          </a:solidFill>
          <a:ln/>
        </p:spPr>
      </p:sp>
      <p:sp>
        <p:nvSpPr>
          <p:cNvPr id="37" name="Text 35"/>
          <p:cNvSpPr/>
          <p:nvPr/>
        </p:nvSpPr>
        <p:spPr>
          <a:xfrm>
            <a:off x="6172200" y="4416552"/>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8" name="Text 36"/>
          <p:cNvSpPr/>
          <p:nvPr/>
        </p:nvSpPr>
        <p:spPr>
          <a:xfrm>
            <a:off x="6702552" y="4389120"/>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Factors influencing satisfaction</a:t>
            </a:r>
            <a:endParaRPr lang="en-US" dirty="0"/>
          </a:p>
        </p:txBody>
      </p:sp>
      <p:sp>
        <p:nvSpPr>
          <p:cNvPr id="39" name="Text 37"/>
          <p:cNvSpPr/>
          <p:nvPr/>
        </p:nvSpPr>
        <p:spPr>
          <a:xfrm>
            <a:off x="6702552" y="4709160"/>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Delivery delay &amp; payment-type analysis</a:t>
            </a:r>
            <a:endParaRPr lang="en-US" sz="1400" dirty="0"/>
          </a:p>
        </p:txBody>
      </p:sp>
      <p:sp>
        <p:nvSpPr>
          <p:cNvPr id="40" name="Shape 38"/>
          <p:cNvSpPr/>
          <p:nvPr/>
        </p:nvSpPr>
        <p:spPr>
          <a:xfrm>
            <a:off x="6172200" y="5385816"/>
            <a:ext cx="420624" cy="420624"/>
          </a:xfrm>
          <a:prstGeom prst="ellipse">
            <a:avLst/>
          </a:prstGeom>
          <a:solidFill>
            <a:srgbClr val="028090"/>
          </a:solidFill>
          <a:ln/>
        </p:spPr>
      </p:sp>
      <p:sp>
        <p:nvSpPr>
          <p:cNvPr id="41" name="Text 39"/>
          <p:cNvSpPr/>
          <p:nvPr/>
        </p:nvSpPr>
        <p:spPr>
          <a:xfrm>
            <a:off x="6172200" y="5385816"/>
            <a:ext cx="420624" cy="42062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2" name="Text 40"/>
          <p:cNvSpPr/>
          <p:nvPr/>
        </p:nvSpPr>
        <p:spPr>
          <a:xfrm>
            <a:off x="6702552" y="5358384"/>
            <a:ext cx="4681728" cy="365760"/>
          </a:xfrm>
          <a:prstGeom prst="rect">
            <a:avLst/>
          </a:prstGeom>
          <a:noFill/>
          <a:ln/>
        </p:spPr>
        <p:txBody>
          <a:bodyPr wrap="square" rtlCol="0" anchor="t"/>
          <a:lstStyle/>
          <a:p>
            <a:pPr marL="0" indent="0">
              <a:buNone/>
            </a:pPr>
            <a:r>
              <a:rPr lang="en-US" b="1" dirty="0">
                <a:solidFill>
                  <a:srgbClr val="212121"/>
                </a:solidFill>
                <a:latin typeface="Calibri" pitchFamily="34" charset="0"/>
                <a:ea typeface="Calibri" pitchFamily="34" charset="-122"/>
                <a:cs typeface="Calibri" pitchFamily="34" charset="-120"/>
              </a:rPr>
              <a:t>Business recommendations</a:t>
            </a:r>
            <a:endParaRPr lang="en-US" dirty="0"/>
          </a:p>
        </p:txBody>
      </p:sp>
      <p:sp>
        <p:nvSpPr>
          <p:cNvPr id="43" name="Text 41"/>
          <p:cNvSpPr/>
          <p:nvPr/>
        </p:nvSpPr>
        <p:spPr>
          <a:xfrm>
            <a:off x="6702552" y="5678424"/>
            <a:ext cx="4681728" cy="274320"/>
          </a:xfrm>
          <a:prstGeom prst="rect">
            <a:avLst/>
          </a:prstGeom>
          <a:noFill/>
          <a:ln/>
        </p:spPr>
        <p:txBody>
          <a:bodyPr wrap="square" rtlCol="0" anchor="t"/>
          <a:lstStyle/>
          <a:p>
            <a:pPr marL="0" indent="0">
              <a:buNone/>
            </a:pPr>
            <a:r>
              <a:rPr lang="en-US" sz="1400" i="1" dirty="0">
                <a:solidFill>
                  <a:srgbClr val="028090"/>
                </a:solidFill>
                <a:latin typeface="Calibri" pitchFamily="34" charset="0"/>
                <a:ea typeface="Calibri" pitchFamily="34" charset="-122"/>
                <a:cs typeface="Calibri" pitchFamily="34" charset="-120"/>
              </a:rPr>
              <a:t>Final Recommendations slide</a:t>
            </a:r>
            <a:endParaRPr lang="en-US" sz="1400" dirty="0"/>
          </a:p>
        </p:txBody>
      </p:sp>
      <p:sp>
        <p:nvSpPr>
          <p:cNvPr id="44" name="Text 42"/>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Business Recommendations</a:t>
            </a:r>
            <a:endParaRPr lang="en-US" sz="3000" dirty="0"/>
          </a:p>
        </p:txBody>
      </p:sp>
      <p:sp>
        <p:nvSpPr>
          <p:cNvPr id="3" name="Text 1"/>
          <p:cNvSpPr/>
          <p:nvPr/>
        </p:nvSpPr>
        <p:spPr>
          <a:xfrm>
            <a:off x="457200" y="841248"/>
            <a:ext cx="11247120" cy="320040"/>
          </a:xfrm>
          <a:prstGeom prst="rect">
            <a:avLst/>
          </a:prstGeom>
          <a:noFill/>
          <a:ln/>
        </p:spPr>
        <p:txBody>
          <a:bodyPr wrap="square" rtlCol="0" anchor="ctr"/>
          <a:lstStyle/>
          <a:p>
            <a:pPr marL="0" indent="0">
              <a:buNone/>
            </a:pPr>
            <a:r>
              <a:rPr lang="en-US" sz="1400" i="1" dirty="0">
                <a:solidFill>
                  <a:srgbClr val="028090"/>
                </a:solidFill>
                <a:latin typeface="Calibri" pitchFamily="34" charset="0"/>
                <a:ea typeface="Calibri" pitchFamily="34" charset="-122"/>
                <a:cs typeface="Calibri" pitchFamily="34" charset="-120"/>
              </a:rPr>
              <a:t>Turning insights into action</a:t>
            </a:r>
            <a:endParaRPr lang="en-US" sz="1400" dirty="0"/>
          </a:p>
        </p:txBody>
      </p:sp>
      <p:sp>
        <p:nvSpPr>
          <p:cNvPr id="4" name="Shape 2"/>
          <p:cNvSpPr/>
          <p:nvPr/>
        </p:nvSpPr>
        <p:spPr>
          <a:xfrm>
            <a:off x="502920" y="1700784"/>
            <a:ext cx="100584" cy="100584"/>
          </a:xfrm>
          <a:prstGeom prst="ellipse">
            <a:avLst/>
          </a:prstGeom>
          <a:solidFill>
            <a:srgbClr val="028090"/>
          </a:solidFill>
          <a:ln/>
        </p:spPr>
      </p:sp>
      <p:sp>
        <p:nvSpPr>
          <p:cNvPr id="5" name="Text 3"/>
          <p:cNvSpPr/>
          <p:nvPr/>
        </p:nvSpPr>
        <p:spPr>
          <a:xfrm>
            <a:off x="795528" y="158191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Invest marketing and inventory focus on top-performing categories (health &amp; beauty, garden tools, computer accessories) to compound existing demand.</a:t>
            </a:r>
            <a:endParaRPr lang="en-US" sz="1400" dirty="0"/>
          </a:p>
        </p:txBody>
      </p:sp>
      <p:sp>
        <p:nvSpPr>
          <p:cNvPr id="6" name="Shape 4"/>
          <p:cNvSpPr/>
          <p:nvPr/>
        </p:nvSpPr>
        <p:spPr>
          <a:xfrm>
            <a:off x="502920" y="2478024"/>
            <a:ext cx="100584" cy="100584"/>
          </a:xfrm>
          <a:prstGeom prst="ellipse">
            <a:avLst/>
          </a:prstGeom>
          <a:solidFill>
            <a:srgbClr val="028090"/>
          </a:solidFill>
          <a:ln/>
        </p:spPr>
      </p:sp>
      <p:sp>
        <p:nvSpPr>
          <p:cNvPr id="7" name="Text 5"/>
          <p:cNvSpPr/>
          <p:nvPr/>
        </p:nvSpPr>
        <p:spPr>
          <a:xfrm>
            <a:off x="795528" y="235915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Explore regional campaigns to grow underperforming states beyond the São Paulo / Rio de Janeiro / Minas Gerais core.</a:t>
            </a:r>
            <a:endParaRPr lang="en-US" sz="1400" dirty="0"/>
          </a:p>
        </p:txBody>
      </p:sp>
      <p:sp>
        <p:nvSpPr>
          <p:cNvPr id="8" name="Shape 6"/>
          <p:cNvSpPr/>
          <p:nvPr/>
        </p:nvSpPr>
        <p:spPr>
          <a:xfrm>
            <a:off x="502920" y="3255264"/>
            <a:ext cx="100584" cy="100584"/>
          </a:xfrm>
          <a:prstGeom prst="ellipse">
            <a:avLst/>
          </a:prstGeom>
          <a:solidFill>
            <a:srgbClr val="028090"/>
          </a:solidFill>
          <a:ln/>
        </p:spPr>
      </p:sp>
      <p:sp>
        <p:nvSpPr>
          <p:cNvPr id="9" name="Text 7"/>
          <p:cNvSpPr/>
          <p:nvPr/>
        </p:nvSpPr>
        <p:spPr>
          <a:xfrm>
            <a:off x="795528" y="313639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Improve logistics and delivery-time reliability for orders trending toward 'Very Late' status, since delay appears linked to lower ratings.</a:t>
            </a:r>
            <a:endParaRPr lang="en-US" sz="1400" dirty="0"/>
          </a:p>
        </p:txBody>
      </p:sp>
      <p:sp>
        <p:nvSpPr>
          <p:cNvPr id="10" name="Shape 8"/>
          <p:cNvSpPr/>
          <p:nvPr/>
        </p:nvSpPr>
        <p:spPr>
          <a:xfrm>
            <a:off x="502920" y="4032504"/>
            <a:ext cx="100584" cy="100584"/>
          </a:xfrm>
          <a:prstGeom prst="ellipse">
            <a:avLst/>
          </a:prstGeom>
          <a:solidFill>
            <a:srgbClr val="028090"/>
          </a:solidFill>
          <a:ln/>
        </p:spPr>
      </p:sp>
      <p:sp>
        <p:nvSpPr>
          <p:cNvPr id="11" name="Text 9"/>
          <p:cNvSpPr/>
          <p:nvPr/>
        </p:nvSpPr>
        <p:spPr>
          <a:xfrm>
            <a:off x="795528" y="391363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Investigate low-rated categories for product quality or listing-accuracy issues before scaling marketing spend on them.</a:t>
            </a:r>
            <a:endParaRPr lang="en-US" sz="1400" dirty="0"/>
          </a:p>
        </p:txBody>
      </p:sp>
      <p:sp>
        <p:nvSpPr>
          <p:cNvPr id="12" name="Shape 10"/>
          <p:cNvSpPr/>
          <p:nvPr/>
        </p:nvSpPr>
        <p:spPr>
          <a:xfrm>
            <a:off x="502920" y="4809744"/>
            <a:ext cx="100584" cy="100584"/>
          </a:xfrm>
          <a:prstGeom prst="ellipse">
            <a:avLst/>
          </a:prstGeom>
          <a:solidFill>
            <a:srgbClr val="028090"/>
          </a:solidFill>
          <a:ln/>
        </p:spPr>
      </p:sp>
      <p:sp>
        <p:nvSpPr>
          <p:cNvPr id="13" name="Text 11"/>
          <p:cNvSpPr/>
          <p:nvPr/>
        </p:nvSpPr>
        <p:spPr>
          <a:xfrm>
            <a:off x="795528" y="469087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Strengthen repeat-purchase incentives to grow the Repeat Customer % measure over time.</a:t>
            </a:r>
            <a:endParaRPr lang="en-US" sz="1400" dirty="0"/>
          </a:p>
        </p:txBody>
      </p:sp>
      <p:sp>
        <p:nvSpPr>
          <p:cNvPr id="14" name="Shape 12"/>
          <p:cNvSpPr/>
          <p:nvPr/>
        </p:nvSpPr>
        <p:spPr>
          <a:xfrm>
            <a:off x="502920" y="5586984"/>
            <a:ext cx="100584" cy="100584"/>
          </a:xfrm>
          <a:prstGeom prst="ellipse">
            <a:avLst/>
          </a:prstGeom>
          <a:solidFill>
            <a:srgbClr val="028090"/>
          </a:solidFill>
          <a:ln/>
        </p:spPr>
      </p:sp>
      <p:sp>
        <p:nvSpPr>
          <p:cNvPr id="15" name="Text 13"/>
          <p:cNvSpPr/>
          <p:nvPr/>
        </p:nvSpPr>
        <p:spPr>
          <a:xfrm>
            <a:off x="795528" y="5468112"/>
            <a:ext cx="10405872" cy="777240"/>
          </a:xfrm>
          <a:prstGeom prst="rect">
            <a:avLst/>
          </a:prstGeom>
          <a:noFill/>
          <a:ln/>
        </p:spPr>
        <p:txBody>
          <a:bodyPr wrap="square" rtlCol="0" anchor="t"/>
          <a:lstStyle/>
          <a:p>
            <a:pPr marL="0" indent="0">
              <a:buNone/>
            </a:pPr>
            <a:r>
              <a:rPr lang="en-US" sz="1400" dirty="0">
                <a:solidFill>
                  <a:srgbClr val="212121"/>
                </a:solidFill>
                <a:latin typeface="Calibri" pitchFamily="34" charset="0"/>
                <a:ea typeface="Calibri" pitchFamily="34" charset="-122"/>
                <a:cs typeface="Calibri" pitchFamily="34" charset="-120"/>
              </a:rPr>
              <a:t>Use the Power BI dashboard for ongoing KPI tracking rather than one-time reporting.</a:t>
            </a:r>
            <a:endParaRPr lang="en-US" sz="1400"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28090"/>
        </a:solidFill>
        <a:effectLst/>
      </p:bgPr>
    </p:bg>
    <p:spTree>
      <p:nvGrpSpPr>
        <p:cNvPr id="1" name=""/>
        <p:cNvGrpSpPr/>
        <p:nvPr/>
      </p:nvGrpSpPr>
      <p:grpSpPr>
        <a:xfrm>
          <a:off x="0" y="0"/>
          <a:ext cx="0" cy="0"/>
          <a:chOff x="0" y="0"/>
          <a:chExt cx="0" cy="0"/>
        </a:xfrm>
      </p:grpSpPr>
      <p:sp>
        <p:nvSpPr>
          <p:cNvPr id="2" name="Text 0"/>
          <p:cNvSpPr/>
          <p:nvPr/>
        </p:nvSpPr>
        <p:spPr>
          <a:xfrm>
            <a:off x="822960" y="2651760"/>
            <a:ext cx="10515600" cy="109728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p:nvPr/>
        </p:nvSpPr>
        <p:spPr>
          <a:xfrm>
            <a:off x="822960" y="3566160"/>
            <a:ext cx="10515600" cy="457200"/>
          </a:xfrm>
          <a:prstGeom prst="rect">
            <a:avLst/>
          </a:prstGeom>
          <a:noFill/>
          <a:ln/>
        </p:spPr>
        <p:txBody>
          <a:bodyPr wrap="square" rtlCol="0" anchor="ctr"/>
          <a:lstStyle/>
          <a:p>
            <a:pPr marL="0" indent="0">
              <a:buNone/>
            </a:pPr>
            <a:endParaRPr lang="en-US" sz="1500" dirty="0"/>
          </a:p>
        </p:txBody>
      </p:sp>
      <p:sp>
        <p:nvSpPr>
          <p:cNvPr id="4" name="Text 2"/>
          <p:cNvSpPr/>
          <p:nvPr/>
        </p:nvSpPr>
        <p:spPr>
          <a:xfrm>
            <a:off x="822960" y="3977640"/>
            <a:ext cx="10515600" cy="365760"/>
          </a:xfrm>
          <a:prstGeom prst="rect">
            <a:avLst/>
          </a:prstGeom>
          <a:noFill/>
          <a:ln/>
        </p:spPr>
        <p:txBody>
          <a:bodyPr wrap="square" rtlCol="0" anchor="ctr"/>
          <a:lstStyle/>
          <a:p>
            <a:pPr marL="0" indent="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972</Words>
  <Application>Microsoft Office PowerPoint</Application>
  <PresentationFormat>Widescreen</PresentationFormat>
  <Paragraphs>158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Keerthi N</cp:lastModifiedBy>
  <cp:revision>2</cp:revision>
  <dcterms:created xsi:type="dcterms:W3CDTF">2026-07-09T19:59:44Z</dcterms:created>
  <dcterms:modified xsi:type="dcterms:W3CDTF">2026-07-09T20:48:30Z</dcterms:modified>
</cp:coreProperties>
</file>